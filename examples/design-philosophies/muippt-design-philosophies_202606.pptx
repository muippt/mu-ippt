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9" r:id="rId14"/>
    <p:sldId id="290" r:id="rId15"/>
    <p:sldId id="270" r:id="rId16"/>
    <p:sldId id="271" r:id="rId17"/>
    <p:sldId id="272" r:id="rId18"/>
    <p:sldId id="273" r:id="rId19"/>
    <p:sldId id="291" r:id="rId20"/>
    <p:sldId id="29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571500"/>
            <a:ext cx="3810000" cy="28575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C41E3A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2450" y="1457325"/>
            <a:ext cx="2569869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0" b="1" dirty="0">
                <a:solidFill>
                  <a:srgbClr val="003366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1040" y="2339340"/>
            <a:ext cx="302948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PPT 大师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1040" y="3101340"/>
            <a:ext cx="30662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设计哲学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9140" y="3996690"/>
            <a:ext cx="30163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15 种设计哲学 × 以身说法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5775960"/>
            <a:ext cx="40088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mu-ppt-master | Design Philosophies Collection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6077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09522" y="1333500"/>
            <a:ext cx="1925003" cy="935831"/>
            <a:chOff x="7609522" y="1333500"/>
            <a:chExt cx="1925003" cy="935831"/>
          </a:xfrm>
        </p:grpSpPr>
        <p:sp>
          <p:nvSpPr>
            <p:cNvPr id="10" name="Line 10"/>
            <p:cNvSpPr/>
            <p:nvPr/>
          </p:nvSpPr>
          <p:spPr>
            <a:xfrm>
              <a:off x="7620000" y="1333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003366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20000" y="1619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003366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1905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003366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133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3366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572500" y="133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3366">
                  <a:alpha val="2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25000" y="133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3366">
                  <a:alpha val="2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09522" y="21016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信息架构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09522" y="2552700"/>
            <a:ext cx="1753553" cy="764381"/>
            <a:chOff x="7609522" y="2552700"/>
            <a:chExt cx="1753553" cy="764381"/>
          </a:xfrm>
        </p:grpSpPr>
        <p:sp>
          <p:nvSpPr>
            <p:cNvPr id="18" name="Ellipse 18"/>
            <p:cNvSpPr/>
            <p:nvPr/>
          </p:nvSpPr>
          <p:spPr>
            <a:xfrm>
              <a:off x="7781925" y="27336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172450" y="2552700"/>
              <a:ext cx="38100" cy="38100"/>
            </a:xfrm>
            <a:prstGeom prst="ellipse">
              <a:avLst/>
            </a:prstGeom>
            <a:solidFill>
              <a:srgbClr val="00FF88">
                <a:alpha val="4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34400" y="2819400"/>
              <a:ext cx="76200" cy="7620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934450" y="2647950"/>
              <a:ext cx="38100" cy="38100"/>
            </a:xfrm>
            <a:prstGeom prst="ellipse">
              <a:avLst/>
            </a:prstGeom>
            <a:solidFill>
              <a:srgbClr val="00FF88">
                <a:alpha val="3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305925" y="2924175"/>
              <a:ext cx="57150" cy="5715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7810500" y="2762250"/>
              <a:ext cx="762000" cy="95250"/>
            </a:xfrm>
            <a:custGeom>
              <a:avLst/>
              <a:gdLst/>
              <a:ahLst/>
              <a:cxnLst/>
              <a:rect l="l" t="t" r="r" b="b"/>
              <a:pathLst>
                <a:path w="762000" h="95250">
                  <a:moveTo>
                    <a:pt x="0" y="0"/>
                  </a:moveTo>
                  <a:lnTo>
                    <a:pt x="762000" y="95250"/>
                  </a:lnTo>
                </a:path>
              </a:pathLst>
            </a:custGeom>
            <a:noFill/>
            <a:ln w="4762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0" y="2857500"/>
              <a:ext cx="762000" cy="95250"/>
            </a:xfrm>
            <a:custGeom>
              <a:avLst/>
              <a:gdLst/>
              <a:ahLst/>
              <a:cxnLst/>
              <a:rect l="l" t="t" r="r" b="b"/>
              <a:pathLst>
                <a:path w="762000" h="95250">
                  <a:moveTo>
                    <a:pt x="0" y="0"/>
                  </a:moveTo>
                  <a:lnTo>
                    <a:pt x="762000" y="95250"/>
                  </a:lnTo>
                </a:path>
              </a:pathLst>
            </a:custGeom>
            <a:noFill/>
            <a:ln w="4762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09522" y="3149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动感诗学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09522" y="3619500"/>
            <a:ext cx="1915478" cy="745331"/>
            <a:chOff x="7609522" y="3619500"/>
            <a:chExt cx="1915478" cy="745331"/>
          </a:xfrm>
        </p:grpSpPr>
        <p:sp>
          <p:nvSpPr>
            <p:cNvPr id="27" name="Rectangle 27"/>
            <p:cNvSpPr/>
            <p:nvPr/>
          </p:nvSpPr>
          <p:spPr>
            <a:xfrm>
              <a:off x="7620000" y="3619500"/>
              <a:ext cx="1905000" cy="381000"/>
            </a:xfrm>
            <a:prstGeom prst="rect">
              <a:avLst/>
            </a:prstGeom>
            <a:noFill/>
            <a:ln w="4762">
              <a:solidFill>
                <a:srgbClr val="1A1A1A">
                  <a:alpha val="1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09522" y="4197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极简主义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09522" y="4476750"/>
            <a:ext cx="1629728" cy="888206"/>
            <a:chOff x="7609522" y="4476750"/>
            <a:chExt cx="1629728" cy="888206"/>
          </a:xfrm>
        </p:grpSpPr>
        <p:sp>
          <p:nvSpPr>
            <p:cNvPr id="30" name="Polygon 30"/>
            <p:cNvSpPr/>
            <p:nvPr/>
          </p:nvSpPr>
          <p:spPr>
            <a:xfrm>
              <a:off x="7620000" y="447675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476250" y="571500"/>
                  </a:lnTo>
                  <a:close/>
                </a:path>
              </a:pathLst>
            </a:custGeom>
            <a:noFill/>
            <a:ln w="9525">
              <a:solidFill>
                <a:srgbClr val="B87333">
                  <a:alpha val="30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58250" y="4572000"/>
              <a:ext cx="381000" cy="381000"/>
            </a:xfrm>
            <a:prstGeom prst="ellipse">
              <a:avLst/>
            </a:prstGeom>
            <a:noFill/>
            <a:ln w="4762">
              <a:solidFill>
                <a:srgbClr val="2C3E50">
                  <a:alpha val="2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09522" y="51973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实验先锋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09522" y="5600700"/>
            <a:ext cx="1172528" cy="383381"/>
            <a:chOff x="7609522" y="5600700"/>
            <a:chExt cx="1172528" cy="383381"/>
          </a:xfrm>
        </p:grpSpPr>
        <p:sp>
          <p:nvSpPr>
            <p:cNvPr id="34" name="Line 34"/>
            <p:cNvSpPr/>
            <p:nvPr/>
          </p:nvSpPr>
          <p:spPr>
            <a:xfrm>
              <a:off x="7620000" y="5619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4762">
              <a:solidFill>
                <a:srgbClr val="3D4F7C">
                  <a:alpha val="30000"/>
                </a:srgb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743950" y="5600700"/>
              <a:ext cx="38100" cy="38100"/>
            </a:xfrm>
            <a:prstGeom prst="ellipse">
              <a:avLst/>
            </a:prstGeom>
            <a:solidFill>
              <a:srgbClr val="C4785B">
                <a:alpha val="4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09522" y="5816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东方哲学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86022" y="5524500"/>
            <a:ext cx="581978" cy="554831"/>
            <a:chOff x="10086022" y="5524500"/>
            <a:chExt cx="581978" cy="554831"/>
          </a:xfrm>
        </p:grpSpPr>
        <p:sp>
          <p:nvSpPr>
            <p:cNvPr id="38" name="Freeform 38"/>
            <p:cNvSpPr/>
            <p:nvPr/>
          </p:nvSpPr>
          <p:spPr>
            <a:xfrm>
              <a:off x="10096500" y="55245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76200" y="0"/>
                  </a:moveTo>
                  <a:lnTo>
                    <a:pt x="495300" y="0"/>
                  </a:lnTo>
                  <a:cubicBezTo>
                    <a:pt x="537384" y="0"/>
                    <a:pt x="571500" y="34116"/>
                    <a:pt x="571500" y="76200"/>
                  </a:cubicBezTo>
                  <a:lnTo>
                    <a:pt x="571500" y="209550"/>
                  </a:lnTo>
                  <a:cubicBezTo>
                    <a:pt x="571500" y="251634"/>
                    <a:pt x="537384" y="285750"/>
                    <a:pt x="4953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D100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86022" y="59116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3366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品牌原生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762000" y="6477000"/>
            <a:ext cx="10668000" cy="19050"/>
          </a:xfrm>
          <a:prstGeom prst="rect">
            <a:avLst/>
          </a:prstGeom>
          <a:gradFill>
            <a:gsLst>
              <a:gs pos="0">
                <a:srgbClr val="003366">
                  <a:alpha val="30000"/>
                </a:srgbClr>
              </a:gs>
              <a:gs pos="100000">
                <a:srgbClr val="C41E3A">
                  <a:alpha val="3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743902"/>
            <a:ext cx="7673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1995" y="993458"/>
            <a:ext cx="498307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六大流派 · 十五种哲学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524000"/>
            <a:ext cx="285750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9618" y="2085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045" y="2260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信息架构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618" y="25426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理性 · 数据 · 克制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7712" y="279320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01 Pentagram 信息架构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712" y="3002756"/>
            <a:ext cx="15401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02 Fathom 数据叙事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712" y="3212306"/>
            <a:ext cx="2394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03 Müller-Brockmann 瑞士网格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3421856"/>
            <a:ext cx="14169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04 Tufte 数据真实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3990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1045" y="4165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动感诗学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4447699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动感 · 沉浸 · 技术美学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7712" y="4698206"/>
            <a:ext cx="1729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05 Field.io 生成式动态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7712" y="4907756"/>
            <a:ext cx="2024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06 Sagmeister 表现性字体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9618" y="2085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1045" y="2260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极简主义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9618" y="25426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秩序 · 留白 · 精致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7712" y="2793206"/>
            <a:ext cx="1334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07 Build 极端极简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7712" y="3002756"/>
            <a:ext cx="1630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08 Notion 功能性极简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7712" y="3212306"/>
            <a:ext cx="15401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09 Apple 电影感极简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618" y="3990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1045" y="4165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实验先锋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9618" y="44476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先锋 · 生成 · 冲击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7712" y="4698206"/>
            <a:ext cx="1959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10 Instrumental 几何精准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7712" y="490775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11 Olschinsky 数字拼贴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618" y="2085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1045" y="2260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东方哲学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25426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温润 · 诗意 · 思辨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7712" y="2793206"/>
            <a:ext cx="18277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12 Takram 东方设计思维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7712" y="3002756"/>
            <a:ext cx="1950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13 Kenya Hara 虚空即充盈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7712" y="3212306"/>
            <a:ext cx="1844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14 Fukasawa 无意识设计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618" y="39904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流派六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1045" y="41652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品牌原生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9618" y="4447699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品牌原生 · 年轻 · 温暖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67712" y="4698206"/>
            <a:ext cx="15484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15 Meituan 阳光活力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64400" y="6475095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02 / 33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6381750"/>
            <a:ext cx="10668000" cy="9525"/>
          </a:xfrm>
          <a:prstGeom prst="rect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9100" y="1085850"/>
            <a:ext cx="4205240" cy="548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0" b="1" dirty="0">
                <a:solidFill>
                  <a:srgbClr val="003366">
                    <a:alpha val="7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3420" y="2655570"/>
            <a:ext cx="440189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Pentagram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7710" y="3613785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03366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信息架构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41910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28600"/>
                </a:lnTo>
                <a:cubicBezTo>
                  <a:pt x="1524000" y="249642"/>
                  <a:pt x="1506942" y="266700"/>
                  <a:pt x="1485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84421" y="4276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4823460"/>
            <a:ext cx="2273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INFORMATION ARCHITECTURE</a:t>
            </a:r>
          </a:p>
        </p:txBody>
      </p:sp>
      <p:sp>
        <p:nvSpPr>
          <p:cNvPr id="9" name="Line 9"/>
          <p:cNvSpPr/>
          <p:nvPr/>
        </p:nvSpPr>
        <p:spPr>
          <a:xfrm>
            <a:off x="8572500" y="3810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003366">
                <a:alpha val="1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8572500" y="4191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003366">
                <a:alpha val="12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8572500" y="457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003366">
                <a:alpha val="9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4953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003366">
                <a:alpha val="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572500" y="3810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4762">
            <a:solidFill>
              <a:srgbClr val="003366">
                <a:alpha val="1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9525000" y="3810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4762">
            <a:solidFill>
              <a:srgbClr val="003366">
                <a:alpha val="1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477500" y="3810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4762">
            <a:solidFill>
              <a:srgbClr val="003366">
                <a:alpha val="1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11430000" y="3810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4762">
            <a:solidFill>
              <a:srgbClr val="003366">
                <a:alpha val="10000"/>
              </a:srgbClr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62000" y="571500"/>
            <a:ext cx="1143000" cy="2857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0570" y="379095"/>
            <a:ext cx="140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" name="Rectangle 4"/>
          <p:cNvSpPr/>
          <p:nvPr/>
        </p:nvSpPr>
        <p:spPr>
          <a:xfrm>
            <a:off x="990600" y="381000"/>
            <a:ext cx="9525" cy="13335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1995" y="707708"/>
            <a:ext cx="505553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Pentagram · 信息架构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238250"/>
            <a:ext cx="190500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2950" y="1504950"/>
            <a:ext cx="40033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3366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"极致的字体层次结构配合瑞士网格纪律"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" y="200025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66700"/>
                </a:lnTo>
                <a:cubicBezTo>
                  <a:pt x="1047750" y="287742"/>
                  <a:pt x="1030692" y="304800"/>
                  <a:pt x="10096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>
              <a:alpha val="6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65835" y="2086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字体层次</a:t>
            </a:r>
          </a:p>
        </p:txBody>
      </p:sp>
      <p:sp>
        <p:nvSpPr>
          <p:cNvPr id="11" name="Freeform 11"/>
          <p:cNvSpPr/>
          <p:nvPr/>
        </p:nvSpPr>
        <p:spPr>
          <a:xfrm>
            <a:off x="1943100" y="200025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66700"/>
                </a:lnTo>
                <a:cubicBezTo>
                  <a:pt x="1047750" y="287742"/>
                  <a:pt x="1030692" y="304800"/>
                  <a:pt x="10096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>
              <a:alpha val="6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46935" y="2086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瑞士网格</a:t>
            </a:r>
          </a:p>
        </p:txBody>
      </p:sp>
      <p:sp>
        <p:nvSpPr>
          <p:cNvPr id="13" name="Freeform 13"/>
          <p:cNvSpPr/>
          <p:nvPr/>
        </p:nvSpPr>
        <p:spPr>
          <a:xfrm>
            <a:off x="3124200" y="200025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66700"/>
                </a:lnTo>
                <a:cubicBezTo>
                  <a:pt x="1047750" y="287742"/>
                  <a:pt x="1030692" y="304800"/>
                  <a:pt x="10096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>
              <a:alpha val="6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31869" y="2086928"/>
            <a:ext cx="6324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60% 留白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05300" y="200025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66700"/>
                </a:lnTo>
                <a:cubicBezTo>
                  <a:pt x="1047750" y="287742"/>
                  <a:pt x="1030692" y="304800"/>
                  <a:pt x="10096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>
              <a:alpha val="6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09135" y="2086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几何精度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72796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3040856"/>
            <a:ext cx="2205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基于网格的精确 x/y 坐标定位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712" y="3288506"/>
            <a:ext cx="2534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标题 ≥ 60px，正文克制在 18-20px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712" y="3536156"/>
            <a:ext cx="2337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宽裕边距 80px+，极少装饰元素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712" y="3783806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单色调色板 + 单一强调色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1760" y="272796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77000" y="3009900"/>
            <a:ext cx="4572000" cy="419100"/>
          </a:xfrm>
          <a:custGeom>
            <a:avLst/>
            <a:gdLst/>
            <a:ahLst/>
            <a:cxnLst/>
            <a:rect l="l" t="t" r="r" b="b"/>
            <a:pathLst>
              <a:path w="4572000" h="4191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361950"/>
                </a:lnTo>
                <a:cubicBezTo>
                  <a:pt x="4572000" y="393513"/>
                  <a:pt x="4546413" y="419100"/>
                  <a:pt x="4514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366">
              <a:alpha val="3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3212" y="3155156"/>
            <a:ext cx="3528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战略报告 · 董事会演示 · 数据密集的高管幻灯片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1760" y="36804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2712" y="3974306"/>
            <a:ext cx="2542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近单色：黑 + 白 + 一个机构强调色</a:t>
            </a:r>
          </a:p>
        </p:txBody>
      </p:sp>
      <p:sp>
        <p:nvSpPr>
          <p:cNvPr id="27" name="Ellipse 27"/>
          <p:cNvSpPr/>
          <p:nvPr/>
        </p:nvSpPr>
        <p:spPr>
          <a:xfrm>
            <a:off x="6553200" y="4267200"/>
            <a:ext cx="228600" cy="2286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47522" y="434006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海军蓝</a:t>
            </a:r>
          </a:p>
        </p:txBody>
      </p:sp>
      <p:sp>
        <p:nvSpPr>
          <p:cNvPr id="29" name="Ellipse 29"/>
          <p:cNvSpPr/>
          <p:nvPr/>
        </p:nvSpPr>
        <p:spPr>
          <a:xfrm>
            <a:off x="7505700" y="4267200"/>
            <a:ext cx="228600" cy="2286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00022" y="43400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酒红</a:t>
            </a:r>
          </a:p>
        </p:txBody>
      </p:sp>
      <p:sp>
        <p:nvSpPr>
          <p:cNvPr id="31" name="Ellipse 31"/>
          <p:cNvSpPr/>
          <p:nvPr/>
        </p:nvSpPr>
        <p:spPr>
          <a:xfrm>
            <a:off x="8362950" y="4267200"/>
            <a:ext cx="228600" cy="228600"/>
          </a:xfrm>
          <a:prstGeom prst="ellipse">
            <a:avLst/>
          </a:prstGeom>
          <a:solidFill>
            <a:srgbClr val="1A5C2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7272" y="434006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森林绿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1760" y="4728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代表作品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3665" y="503015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Pentagram 品牌识别系统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3665" y="523970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Bloomberg Businessweek 编辑版面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8665" y="5982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4460" y="5966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73618" y="59907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最自然契合专业演示的哲学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6381750"/>
            <a:ext cx="10668000" cy="9525"/>
          </a:xfrm>
          <a:prstGeom prst="rect">
            <a:avLst/>
          </a:prstGeom>
          <a:solidFill>
            <a:srgbClr val="003366">
              <a:alpha val="8000"/>
            </a:srgbClr>
          </a:solidFill>
          <a:ln>
            <a:noFill/>
          </a:ln>
        </p:spPr>
      </p:sp>
      <p:sp>
        <p:nvSpPr>
          <p:cNvPr id="41" name="Polygon 18">
            <a:extLst>
              <a:ext uri="{FF2B5EF4-FFF2-40B4-BE49-F238E27FC236}">
                <a16:creationId xmlns:a16="http://schemas.microsoft.com/office/drawing/2014/main" id="{18EF6979-B9E2-2033-86DE-68DB8D57576D}"/>
              </a:ext>
            </a:extLst>
          </p:cNvPr>
          <p:cNvSpPr/>
          <p:nvPr/>
        </p:nvSpPr>
        <p:spPr>
          <a:xfrm>
            <a:off x="8362950" y="707231"/>
            <a:ext cx="2476500" cy="1905000"/>
          </a:xfrm>
          <a:custGeom>
            <a:avLst/>
            <a:gdLst/>
            <a:ahLst/>
            <a:cxnLst/>
            <a:rect l="l" t="t" r="r" b="b"/>
            <a:pathLst>
              <a:path w="2476500" h="1905000">
                <a:moveTo>
                  <a:pt x="1238250" y="0"/>
                </a:moveTo>
                <a:lnTo>
                  <a:pt x="2476500" y="1905000"/>
                </a:lnTo>
                <a:lnTo>
                  <a:pt x="0" y="1905000"/>
                </a:lnTo>
                <a:close/>
              </a:path>
            </a:pathLst>
          </a:custGeom>
          <a:noFill/>
          <a:ln w="14288">
            <a:solidFill>
              <a:srgbClr val="E8C547"/>
            </a:solidFill>
          </a:ln>
        </p:spPr>
      </p:sp>
      <p:sp>
        <p:nvSpPr>
          <p:cNvPr id="42" name="Line 19">
            <a:extLst>
              <a:ext uri="{FF2B5EF4-FFF2-40B4-BE49-F238E27FC236}">
                <a16:creationId xmlns:a16="http://schemas.microsoft.com/office/drawing/2014/main" id="{6F647CF7-1F00-94CD-8FB3-016F925975BC}"/>
              </a:ext>
            </a:extLst>
          </p:cNvPr>
          <p:cNvSpPr/>
          <p:nvPr/>
        </p:nvSpPr>
        <p:spPr>
          <a:xfrm>
            <a:off x="8839200" y="1659731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7620">
            <a:solidFill>
              <a:srgbClr val="E8C547"/>
            </a:solidFill>
          </a:ln>
        </p:spPr>
      </p:sp>
      <p:sp>
        <p:nvSpPr>
          <p:cNvPr id="43" name="Line 20">
            <a:extLst>
              <a:ext uri="{FF2B5EF4-FFF2-40B4-BE49-F238E27FC236}">
                <a16:creationId xmlns:a16="http://schemas.microsoft.com/office/drawing/2014/main" id="{9EF28459-6140-DBDD-71E3-B6C2F73797A3}"/>
              </a:ext>
            </a:extLst>
          </p:cNvPr>
          <p:cNvSpPr/>
          <p:nvPr/>
        </p:nvSpPr>
        <p:spPr>
          <a:xfrm>
            <a:off x="9077325" y="2135981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7620">
            <a:solidFill>
              <a:srgbClr val="E8C547"/>
            </a:solidFill>
          </a:ln>
        </p:spPr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140EE2A6-9D6C-ED13-65B9-7272A12D3E5A}"/>
              </a:ext>
            </a:extLst>
          </p:cNvPr>
          <p:cNvSpPr txBox="1"/>
          <p:nvPr/>
        </p:nvSpPr>
        <p:spPr>
          <a:xfrm>
            <a:off x="9442503" y="1237297"/>
            <a:ext cx="317395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战略层</a:t>
            </a:r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69CF6753-F989-5FFC-7797-5F439A5432A2}"/>
              </a:ext>
            </a:extLst>
          </p:cNvPr>
          <p:cNvSpPr txBox="1"/>
          <p:nvPr/>
        </p:nvSpPr>
        <p:spPr>
          <a:xfrm>
            <a:off x="9442503" y="1856422"/>
            <a:ext cx="317395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结构层</a:t>
            </a:r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B0D0492D-6345-32D5-1746-B5F37B31158E}"/>
              </a:ext>
            </a:extLst>
          </p:cNvPr>
          <p:cNvSpPr txBox="1"/>
          <p:nvPr/>
        </p:nvSpPr>
        <p:spPr>
          <a:xfrm>
            <a:off x="9442503" y="2380297"/>
            <a:ext cx="317395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表现层</a:t>
            </a:r>
          </a:p>
        </p:txBody>
      </p:sp>
      <p:sp>
        <p:nvSpPr>
          <p:cNvPr id="47" name="Ellipse 24">
            <a:extLst>
              <a:ext uri="{FF2B5EF4-FFF2-40B4-BE49-F238E27FC236}">
                <a16:creationId xmlns:a16="http://schemas.microsoft.com/office/drawing/2014/main" id="{73916A6B-A869-198F-E86C-3A53C384AC6D}"/>
              </a:ext>
            </a:extLst>
          </p:cNvPr>
          <p:cNvSpPr/>
          <p:nvPr/>
        </p:nvSpPr>
        <p:spPr>
          <a:xfrm>
            <a:off x="9563100" y="669131"/>
            <a:ext cx="76200" cy="76200"/>
          </a:xfrm>
          <a:prstGeom prst="ellipse">
            <a:avLst/>
          </a:prstGeom>
          <a:solidFill>
            <a:srgbClr val="E8C547"/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57200" y="1600200"/>
            <a:ext cx="465810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E17055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230" y="2402205"/>
            <a:ext cx="2866882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Fathom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9615" y="3344228"/>
            <a:ext cx="155448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2D3436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数据叙事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38100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28600"/>
                </a:lnTo>
                <a:cubicBezTo>
                  <a:pt x="1524000" y="249642"/>
                  <a:pt x="1506942" y="266700"/>
                  <a:pt x="1485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17055">
              <a:alpha val="1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84421" y="3895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4442460"/>
            <a:ext cx="16165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DATA STORYTELLING</a:t>
            </a:r>
          </a:p>
        </p:txBody>
      </p:sp>
      <p:sp>
        <p:nvSpPr>
          <p:cNvPr id="9" name="Line 9"/>
          <p:cNvSpPr/>
          <p:nvPr/>
        </p:nvSpPr>
        <p:spPr>
          <a:xfrm>
            <a:off x="7143750" y="4762500"/>
            <a:ext cx="4286250" cy="9525"/>
          </a:xfrm>
          <a:custGeom>
            <a:avLst/>
            <a:gdLst/>
            <a:ahLst/>
            <a:cxnLst/>
            <a:rect l="l" t="t" r="r" b="b"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9525">
            <a:solidFill>
              <a:srgbClr val="E0E0E0">
                <a:alpha val="30000"/>
              </a:srgbClr>
            </a:solidFill>
          </a:ln>
        </p:spPr>
      </p:sp>
      <p:sp>
        <p:nvSpPr>
          <p:cNvPr id="10" name="Polyline 10"/>
          <p:cNvSpPr/>
          <p:nvPr/>
        </p:nvSpPr>
        <p:spPr>
          <a:xfrm>
            <a:off x="7143750" y="3619500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0" y="952500"/>
                </a:moveTo>
                <a:lnTo>
                  <a:pt x="666750" y="762000"/>
                </a:lnTo>
                <a:lnTo>
                  <a:pt x="1333500" y="857250"/>
                </a:lnTo>
                <a:lnTo>
                  <a:pt x="2000250" y="381000"/>
                </a:lnTo>
                <a:lnTo>
                  <a:pt x="2667000" y="571500"/>
                </a:lnTo>
                <a:lnTo>
                  <a:pt x="3333750" y="0"/>
                </a:lnTo>
                <a:lnTo>
                  <a:pt x="4000500" y="190500"/>
                </a:lnTo>
              </a:path>
            </a:pathLst>
          </a:custGeom>
          <a:noFill/>
          <a:ln w="19050">
            <a:solidFill>
              <a:srgbClr val="E17055">
                <a:alpha val="5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105900" y="3962400"/>
            <a:ext cx="76200" cy="76200"/>
          </a:xfrm>
          <a:prstGeom prst="ellipse">
            <a:avLst/>
          </a:prstGeom>
          <a:solidFill>
            <a:srgbClr val="E17055">
              <a:alpha val="7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429875" y="3571875"/>
            <a:ext cx="95250" cy="9525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10477500" y="3333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E17055">
                <a:alpha val="4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334482" y="316849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17055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peak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571500"/>
            <a:ext cx="762000" cy="28575"/>
          </a:xfrm>
          <a:prstGeom prst="rect">
            <a:avLst/>
          </a:prstGeom>
          <a:solidFill>
            <a:srgbClr val="E1705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0570" y="3790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4" name="Rectangle 4"/>
          <p:cNvSpPr/>
          <p:nvPr/>
        </p:nvSpPr>
        <p:spPr>
          <a:xfrm>
            <a:off x="990600" y="381000"/>
            <a:ext cx="9525" cy="13335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676275"/>
            <a:ext cx="405569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Fathom · 数据叙事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62050"/>
            <a:ext cx="1524000" cy="19050"/>
          </a:xfrm>
          <a:prstGeom prst="rect">
            <a:avLst/>
          </a:prstGeom>
          <a:solidFill>
            <a:srgbClr val="E1705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3902" y="1417796"/>
            <a:ext cx="317882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3436">
                    <a:alpha val="75000"/>
                  </a:srgbClr>
                </a:solidFill>
                <a:latin typeface="Arial"/>
                <a:ea typeface="Microsoft YaHei"/>
                <a:cs typeface="Arial"/>
              </a:rPr>
              <a:t>"读起来像编辑新闻的数据可视化"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" y="180975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47650"/>
                </a:lnTo>
                <a:cubicBezTo>
                  <a:pt x="1143000" y="268692"/>
                  <a:pt x="1125942" y="285750"/>
                  <a:pt x="1104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17055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65121" y="18949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数据可视化</a:t>
            </a:r>
          </a:p>
        </p:txBody>
      </p:sp>
      <p:sp>
        <p:nvSpPr>
          <p:cNvPr id="11" name="Freeform 11"/>
          <p:cNvSpPr/>
          <p:nvPr/>
        </p:nvSpPr>
        <p:spPr>
          <a:xfrm>
            <a:off x="2019300" y="1809750"/>
            <a:ext cx="1333500" cy="285750"/>
          </a:xfrm>
          <a:custGeom>
            <a:avLst/>
            <a:gdLst/>
            <a:ahLst/>
            <a:cxnLst/>
            <a:rect l="l" t="t" r="r" b="b"/>
            <a:pathLst>
              <a:path w="1333500" h="28575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47650"/>
                </a:lnTo>
                <a:cubicBezTo>
                  <a:pt x="1333500" y="268692"/>
                  <a:pt x="1316442" y="285750"/>
                  <a:pt x="12954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17055">
              <a:alpha val="8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246471" y="1894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编辑新闻美学</a:t>
            </a:r>
          </a:p>
        </p:txBody>
      </p:sp>
      <p:sp>
        <p:nvSpPr>
          <p:cNvPr id="13" name="Freeform 13"/>
          <p:cNvSpPr/>
          <p:nvPr/>
        </p:nvSpPr>
        <p:spPr>
          <a:xfrm>
            <a:off x="3467100" y="1809750"/>
            <a:ext cx="1047750" cy="285750"/>
          </a:xfrm>
          <a:custGeom>
            <a:avLst/>
            <a:gdLst/>
            <a:ahLst/>
            <a:cxnLst/>
            <a:rect l="l" t="t" r="r" b="b"/>
            <a:pathLst>
              <a:path w="1047750" h="28575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47650"/>
                </a:lnTo>
                <a:cubicBezTo>
                  <a:pt x="1047750" y="268692"/>
                  <a:pt x="1030692" y="285750"/>
                  <a:pt x="100965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17055">
              <a:alpha val="8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693795" y="189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内联注释</a:t>
            </a:r>
          </a:p>
        </p:txBody>
      </p:sp>
      <p:sp>
        <p:nvSpPr>
          <p:cNvPr id="15" name="Freeform 15"/>
          <p:cNvSpPr/>
          <p:nvPr/>
        </p:nvSpPr>
        <p:spPr>
          <a:xfrm>
            <a:off x="4629150" y="1809750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47650"/>
                </a:lnTo>
                <a:cubicBezTo>
                  <a:pt x="952500" y="268692"/>
                  <a:pt x="935442" y="285750"/>
                  <a:pt x="9144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17055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79419" y="18949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叙事流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53746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28503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图表融入叙事流，非孤立方框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712" y="30980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注释直接标注在数据点上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712" y="3345656"/>
            <a:ext cx="2624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柔和网格线 stroke-opacity="0.1"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712" y="35933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单一数据点用强调色突出</a:t>
            </a:r>
          </a:p>
        </p:txBody>
      </p:sp>
      <p:sp>
        <p:nvSpPr>
          <p:cNvPr id="22" name="Freeform 22"/>
          <p:cNvSpPr/>
          <p:nvPr/>
        </p:nvSpPr>
        <p:spPr>
          <a:xfrm>
            <a:off x="6096000" y="2428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274118" y="25617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数据叙事示例</a:t>
            </a:r>
          </a:p>
        </p:txBody>
      </p:sp>
      <p:sp>
        <p:nvSpPr>
          <p:cNvPr id="24" name="Line 24"/>
          <p:cNvSpPr/>
          <p:nvPr/>
        </p:nvSpPr>
        <p:spPr>
          <a:xfrm>
            <a:off x="6286500" y="2857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>
                <a:alpha val="10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6286500" y="3238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>
                <a:alpha val="10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6286500" y="3619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>
                <a:alpha val="10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6286500" y="4000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>
                <a:alpha val="10000"/>
              </a:srgbClr>
            </a:solidFill>
          </a:ln>
        </p:spPr>
      </p:sp>
      <p:sp>
        <p:nvSpPr>
          <p:cNvPr id="28" name="Polygon 28"/>
          <p:cNvSpPr/>
          <p:nvPr/>
        </p:nvSpPr>
        <p:spPr>
          <a:xfrm>
            <a:off x="6667500" y="3048000"/>
            <a:ext cx="4000500" cy="1143000"/>
          </a:xfrm>
          <a:custGeom>
            <a:avLst/>
            <a:gdLst/>
            <a:ahLst/>
            <a:cxnLst/>
            <a:rect l="l" t="t" r="r" b="b"/>
            <a:pathLst>
              <a:path w="4000500" h="1143000">
                <a:moveTo>
                  <a:pt x="0" y="952500"/>
                </a:moveTo>
                <a:lnTo>
                  <a:pt x="666750" y="762000"/>
                </a:lnTo>
                <a:lnTo>
                  <a:pt x="1333500" y="857250"/>
                </a:lnTo>
                <a:lnTo>
                  <a:pt x="2000250" y="476250"/>
                </a:lnTo>
                <a:lnTo>
                  <a:pt x="2667000" y="381000"/>
                </a:lnTo>
                <a:lnTo>
                  <a:pt x="3333750" y="0"/>
                </a:lnTo>
                <a:lnTo>
                  <a:pt x="4000500" y="190500"/>
                </a:lnTo>
                <a:lnTo>
                  <a:pt x="40005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E17055">
              <a:alpha val="12000"/>
            </a:srgbClr>
          </a:solidFill>
          <a:ln>
            <a:noFill/>
          </a:ln>
        </p:spPr>
      </p:sp>
      <p:sp>
        <p:nvSpPr>
          <p:cNvPr id="29" name="Polyline 29"/>
          <p:cNvSpPr/>
          <p:nvPr/>
        </p:nvSpPr>
        <p:spPr>
          <a:xfrm>
            <a:off x="6667500" y="3048000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0" y="952500"/>
                </a:moveTo>
                <a:lnTo>
                  <a:pt x="666750" y="762000"/>
                </a:lnTo>
                <a:lnTo>
                  <a:pt x="1333500" y="857250"/>
                </a:lnTo>
                <a:lnTo>
                  <a:pt x="2000250" y="476250"/>
                </a:lnTo>
                <a:lnTo>
                  <a:pt x="2667000" y="381000"/>
                </a:lnTo>
                <a:lnTo>
                  <a:pt x="3333750" y="0"/>
                </a:lnTo>
                <a:lnTo>
                  <a:pt x="4000500" y="190500"/>
                </a:lnTo>
              </a:path>
            </a:pathLst>
          </a:custGeom>
          <a:noFill/>
          <a:ln w="19050">
            <a:solidFill>
              <a:srgbClr val="E17055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963150" y="3009900"/>
            <a:ext cx="76200" cy="7620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10001250" y="28098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E17055">
                <a:alpha val="5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689544" y="26731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17055"/>
                </a:solidFill>
                <a:latin typeface="Arial"/>
                <a:ea typeface="Microsoft YaHei"/>
                <a:cs typeface="Arial"/>
              </a:rPr>
              <a:t>关键转折点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6760" y="463296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7712" y="4926806"/>
            <a:ext cx="3035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数据分析报告 · 财务复盘 · 市场调研演示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6760" y="5347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436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8665" y="5649278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中性底色 + 数据强调色层级</a:t>
            </a:r>
          </a:p>
        </p:txBody>
      </p:sp>
      <p:sp>
        <p:nvSpPr>
          <p:cNvPr id="37" name="Ellipse 37"/>
          <p:cNvSpPr/>
          <p:nvPr/>
        </p:nvSpPr>
        <p:spPr>
          <a:xfrm>
            <a:off x="838200" y="5934075"/>
            <a:ext cx="228600" cy="228600"/>
          </a:xfrm>
          <a:prstGeom prst="ellipse">
            <a:avLst/>
          </a:prstGeom>
          <a:solidFill>
            <a:srgbClr val="FAF8F5"/>
          </a:solidFill>
          <a:ln w="9525">
            <a:solidFill>
              <a:srgbClr val="E0E0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32522" y="60069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暖灰底</a:t>
            </a:r>
          </a:p>
        </p:txBody>
      </p:sp>
      <p:sp>
        <p:nvSpPr>
          <p:cNvPr id="39" name="Ellipse 39"/>
          <p:cNvSpPr/>
          <p:nvPr/>
        </p:nvSpPr>
        <p:spPr>
          <a:xfrm>
            <a:off x="1790700" y="5934075"/>
            <a:ext cx="228600" cy="22860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085022" y="60069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主要指标</a:t>
            </a:r>
          </a:p>
        </p:txBody>
      </p:sp>
      <p:sp>
        <p:nvSpPr>
          <p:cNvPr id="41" name="Ellipse 41"/>
          <p:cNvSpPr/>
          <p:nvPr/>
        </p:nvSpPr>
        <p:spPr>
          <a:xfrm>
            <a:off x="2838450" y="5934075"/>
            <a:ext cx="228600" cy="228600"/>
          </a:xfrm>
          <a:prstGeom prst="ellipse">
            <a:avLst/>
          </a:prstGeom>
          <a:solidFill>
            <a:srgbClr val="E17055">
              <a:alpha val="4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132772" y="60069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次要指标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82665" y="46491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52260" y="46329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07618" y="46572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完美适配咨询和数据类幻灯片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1714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266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619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5524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647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7429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9334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028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E63946">
                <a:alpha val="6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1905000"/>
            <a:ext cx="1905000" cy="1905000"/>
          </a:xfrm>
          <a:prstGeom prst="rect">
            <a:avLst/>
          </a:prstGeom>
          <a:solidFill>
            <a:srgbClr val="E63946">
              <a:alpha val="9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41105" y="2171700"/>
            <a:ext cx="174679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6160" y="2308860"/>
            <a:ext cx="23931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Müller-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6160" y="2956560"/>
            <a:ext cx="342369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Brockmann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92830" y="367855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3557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瑞士网格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4095750"/>
            <a:ext cx="1524000" cy="266700"/>
          </a:xfrm>
          <a:prstGeom prst="rect">
            <a:avLst/>
          </a:prstGeom>
          <a:solidFill>
            <a:srgbClr val="1D3557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941921" y="4180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6165" y="4744402"/>
            <a:ext cx="13685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SWISS GRID 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E63946">
                <a:alpha val="4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E63946">
                <a:alpha val="4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6477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E63946">
                <a:alpha val="4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2858">
            <a:solidFill>
              <a:srgbClr val="E63946">
                <a:alpha val="4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0570" y="3790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6394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5805" y="740092"/>
            <a:ext cx="42462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Müller-Brockmann 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3055" y="74009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瑞士网格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219200"/>
            <a:ext cx="952500" cy="28575"/>
          </a:xfrm>
          <a:prstGeom prst="rect">
            <a:avLst/>
          </a:prstGeom>
          <a:solidFill>
            <a:srgbClr val="E6394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4855" y="1473518"/>
            <a:ext cx="3603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3557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"数学网格系统作为所有视觉决策的基础"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19821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63946"/>
                </a:solidFill>
                <a:latin typeface="Arial"/>
                <a:ea typeface="Microsoft YaHei"/>
                <a:cs typeface="Arial"/>
              </a:rPr>
              <a:t>VISUAL DNA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2326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数学网格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9760" y="2232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非对称和谐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3760" y="2232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字体即设计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7760" y="22326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客观传达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28313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095625"/>
            <a:ext cx="3810000" cy="9525"/>
          </a:xfrm>
          <a:prstGeom prst="rect">
            <a:avLst/>
          </a:prstGeom>
          <a:solidFill>
            <a:srgbClr val="1D3557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8665" y="322040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所有元素吸附到 12 列网格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8665" y="344900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统一 text-anchor="start" 左对齐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677602"/>
            <a:ext cx="1598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严格限制 2-3 色调色板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665" y="39062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零装饰 — 每个元素为信息服务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0212" y="4180900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524500" y="4445219"/>
            <a:ext cx="5715000" cy="9525"/>
          </a:xfrm>
          <a:prstGeom prst="rect">
            <a:avLst/>
          </a:prstGeom>
          <a:solidFill>
            <a:srgbClr val="1D3557">
              <a:alpha val="1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11165" y="4589046"/>
            <a:ext cx="29173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学术演示 · 建筑/设计评审 · 现代主义品牌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10212" y="5038150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524500" y="5302469"/>
            <a:ext cx="5715000" cy="9525"/>
          </a:xfrm>
          <a:prstGeom prst="rect">
            <a:avLst/>
          </a:prstGeom>
          <a:solidFill>
            <a:srgbClr val="1D3557">
              <a:alpha val="1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11165" y="5427246"/>
            <a:ext cx="3270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有限调色板：主文字色 + 一个粗犷的几何强调色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524500" y="5731094"/>
            <a:ext cx="266700" cy="266700"/>
          </a:xfrm>
          <a:prstGeom prst="rect">
            <a:avLst/>
          </a:prstGeom>
          <a:solidFill>
            <a:srgbClr val="1D355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856922" y="5832535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#1D3557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5731094"/>
            <a:ext cx="266700" cy="266700"/>
          </a:xfrm>
          <a:prstGeom prst="rect">
            <a:avLst/>
          </a:prstGeom>
          <a:solidFill>
            <a:srgbClr val="E6394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999922" y="5832535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#E63946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31094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142922" y="5832535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#FFFFFF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712" y="4831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3557"/>
                </a:solidFill>
                <a:latin typeface="Arial"/>
                <a:ea typeface="Microsoft YaHei"/>
                <a:cs typeface="Arial"/>
              </a:rPr>
              <a:t>代表作品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5106352"/>
            <a:ext cx="357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Müller-Brockmann 音乐会海报 · 瑞士国际主义风格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8665" y="5887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8260" y="58712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78368" y="5895499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结构化内容非常适合；不太适合情感营销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6351ABF-1212-2F3B-1F5F-7BEADFB9EDCD}"/>
              </a:ext>
            </a:extLst>
          </p:cNvPr>
          <p:cNvGrpSpPr/>
          <p:nvPr/>
        </p:nvGrpSpPr>
        <p:grpSpPr>
          <a:xfrm>
            <a:off x="8010524" y="824898"/>
            <a:ext cx="2949625" cy="3081304"/>
            <a:chOff x="8010525" y="824898"/>
            <a:chExt cx="2667000" cy="2786062"/>
          </a:xfrm>
        </p:grpSpPr>
        <p:sp>
          <p:nvSpPr>
            <p:cNvPr id="42" name="Ellipse 18">
              <a:extLst>
                <a:ext uri="{FF2B5EF4-FFF2-40B4-BE49-F238E27FC236}">
                  <a16:creationId xmlns:a16="http://schemas.microsoft.com/office/drawing/2014/main" id="{E90CEDD0-D1E4-1B3E-A0F1-9F9802112ED5}"/>
                </a:ext>
              </a:extLst>
            </p:cNvPr>
            <p:cNvSpPr/>
            <p:nvPr/>
          </p:nvSpPr>
          <p:spPr>
            <a:xfrm>
              <a:off x="8201025" y="1015398"/>
              <a:ext cx="2286000" cy="2286000"/>
            </a:xfrm>
            <a:prstGeom prst="ellipse">
              <a:avLst/>
            </a:prstGeom>
            <a:noFill/>
            <a:ln w="19050">
              <a:solidFill>
                <a:srgbClr val="C0392B"/>
              </a:solidFill>
            </a:ln>
          </p:spPr>
        </p:sp>
        <p:sp>
          <p:nvSpPr>
            <p:cNvPr id="43" name="Ellipse 19">
              <a:extLst>
                <a:ext uri="{FF2B5EF4-FFF2-40B4-BE49-F238E27FC236}">
                  <a16:creationId xmlns:a16="http://schemas.microsoft.com/office/drawing/2014/main" id="{67558616-4C15-D40C-0B02-790A17B79E06}"/>
                </a:ext>
              </a:extLst>
            </p:cNvPr>
            <p:cNvSpPr/>
            <p:nvPr/>
          </p:nvSpPr>
          <p:spPr>
            <a:xfrm>
              <a:off x="8486775" y="1301148"/>
              <a:ext cx="1714500" cy="1714500"/>
            </a:xfrm>
            <a:prstGeom prst="ellipse">
              <a:avLst/>
            </a:prstGeom>
            <a:noFill/>
            <a:ln w="14288">
              <a:solidFill>
                <a:srgbClr val="C0392B">
                  <a:alpha val="60000"/>
                </a:srgbClr>
              </a:solidFill>
            </a:ln>
          </p:spPr>
        </p:sp>
        <p:sp>
          <p:nvSpPr>
            <p:cNvPr id="44" name="Ellipse 20">
              <a:extLst>
                <a:ext uri="{FF2B5EF4-FFF2-40B4-BE49-F238E27FC236}">
                  <a16:creationId xmlns:a16="http://schemas.microsoft.com/office/drawing/2014/main" id="{2B036715-78BB-E36B-61FF-E9E82215296F}"/>
                </a:ext>
              </a:extLst>
            </p:cNvPr>
            <p:cNvSpPr/>
            <p:nvPr/>
          </p:nvSpPr>
          <p:spPr>
            <a:xfrm>
              <a:off x="8772525" y="1586898"/>
              <a:ext cx="1143000" cy="1143000"/>
            </a:xfrm>
            <a:prstGeom prst="ellipse">
              <a:avLst/>
            </a:prstGeom>
            <a:noFill/>
            <a:ln w="9525">
              <a:solidFill>
                <a:srgbClr val="C0392B">
                  <a:alpha val="40000"/>
                </a:srgbClr>
              </a:solidFill>
            </a:ln>
          </p:spPr>
        </p:sp>
        <p:sp>
          <p:nvSpPr>
            <p:cNvPr id="45" name="Ellipse 21">
              <a:extLst>
                <a:ext uri="{FF2B5EF4-FFF2-40B4-BE49-F238E27FC236}">
                  <a16:creationId xmlns:a16="http://schemas.microsoft.com/office/drawing/2014/main" id="{9A3BC900-2E10-E226-5BCD-6BC4D3EDC47F}"/>
                </a:ext>
              </a:extLst>
            </p:cNvPr>
            <p:cNvSpPr/>
            <p:nvPr/>
          </p:nvSpPr>
          <p:spPr>
            <a:xfrm>
              <a:off x="9058275" y="1872648"/>
              <a:ext cx="571500" cy="571500"/>
            </a:xfrm>
            <a:prstGeom prst="ellipse">
              <a:avLst/>
            </a:prstGeom>
            <a:noFill/>
            <a:ln w="7620">
              <a:solidFill>
                <a:srgbClr val="C0392B">
                  <a:alpha val="20000"/>
                </a:srgbClr>
              </a:solidFill>
            </a:ln>
          </p:spPr>
        </p:sp>
        <p:sp>
          <p:nvSpPr>
            <p:cNvPr id="46" name="Ellipse 22">
              <a:extLst>
                <a:ext uri="{FF2B5EF4-FFF2-40B4-BE49-F238E27FC236}">
                  <a16:creationId xmlns:a16="http://schemas.microsoft.com/office/drawing/2014/main" id="{DFE1E471-6771-BF58-ECF4-D54F64D21FB0}"/>
                </a:ext>
              </a:extLst>
            </p:cNvPr>
            <p:cNvSpPr/>
            <p:nvPr/>
          </p:nvSpPr>
          <p:spPr>
            <a:xfrm>
              <a:off x="9296400" y="2110773"/>
              <a:ext cx="95250" cy="952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1FD63628-FB8C-F05F-2580-22FE9604D0FD}"/>
                </a:ext>
              </a:extLst>
            </p:cNvPr>
            <p:cNvSpPr/>
            <p:nvPr/>
          </p:nvSpPr>
          <p:spPr>
            <a:xfrm>
              <a:off x="8010525" y="2158398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2858">
              <a:solidFill>
                <a:srgbClr val="2C2C2C"/>
              </a:solidFill>
            </a:ln>
          </p:spPr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8A665667-C367-E824-4038-C0FC8AAF38AA}"/>
                </a:ext>
              </a:extLst>
            </p:cNvPr>
            <p:cNvSpPr/>
            <p:nvPr/>
          </p:nvSpPr>
          <p:spPr>
            <a:xfrm>
              <a:off x="9344025" y="824898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2858">
              <a:solidFill>
                <a:srgbClr val="2C2C2C"/>
              </a:solidFill>
            </a:ln>
          </p:spPr>
        </p:sp>
        <p:sp>
          <p:nvSpPr>
            <p:cNvPr id="49" name="TextBox 25">
              <a:extLst>
                <a:ext uri="{FF2B5EF4-FFF2-40B4-BE49-F238E27FC236}">
                  <a16:creationId xmlns:a16="http://schemas.microsoft.com/office/drawing/2014/main" id="{2A12A883-8B8D-CD38-2740-767D663A44C6}"/>
                </a:ext>
              </a:extLst>
            </p:cNvPr>
            <p:cNvSpPr txBox="1"/>
            <p:nvPr/>
          </p:nvSpPr>
          <p:spPr>
            <a:xfrm>
              <a:off x="8781336" y="3458560"/>
              <a:ext cx="11253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致敬 musica viva 海报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61626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040" y="2720340"/>
            <a:ext cx="204978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333333"/>
                </a:solidFill>
                <a:latin typeface="Georgia"/>
                <a:ea typeface="SimSun"/>
                <a:cs typeface="Georgia"/>
              </a:rPr>
              <a:t>Tufte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3425" y="3567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333333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数据真实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618" y="4180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7712" y="45458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AAAA"/>
                </a:solidFill>
                <a:latin typeface="Georgia"/>
                <a:ea typeface="SimSun"/>
                <a:cs typeface="Georgia"/>
              </a:rPr>
              <a:t>DATA TRUTH</a:t>
            </a:r>
          </a:p>
        </p:txBody>
      </p:sp>
      <p:sp>
        <p:nvSpPr>
          <p:cNvPr id="8" name="Polyline 8"/>
          <p:cNvSpPr/>
          <p:nvPr/>
        </p:nvSpPr>
        <p:spPr>
          <a:xfrm>
            <a:off x="7620000" y="2362200"/>
            <a:ext cx="1714500" cy="495300"/>
          </a:xfrm>
          <a:custGeom>
            <a:avLst/>
            <a:gdLst/>
            <a:ahLst/>
            <a:cxnLst/>
            <a:rect l="l" t="t" r="r" b="b"/>
            <a:pathLst>
              <a:path w="1714500" h="495300">
                <a:moveTo>
                  <a:pt x="0" y="495300"/>
                </a:moveTo>
                <a:lnTo>
                  <a:pt x="190500" y="400050"/>
                </a:lnTo>
                <a:lnTo>
                  <a:pt x="381000" y="447675"/>
                </a:lnTo>
                <a:lnTo>
                  <a:pt x="571500" y="304800"/>
                </a:lnTo>
                <a:lnTo>
                  <a:pt x="762000" y="257175"/>
                </a:lnTo>
                <a:lnTo>
                  <a:pt x="952500" y="209550"/>
                </a:lnTo>
                <a:lnTo>
                  <a:pt x="1143000" y="114300"/>
                </a:lnTo>
                <a:lnTo>
                  <a:pt x="1333500" y="161925"/>
                </a:lnTo>
                <a:lnTo>
                  <a:pt x="1524000" y="19050"/>
                </a:lnTo>
                <a:lnTo>
                  <a:pt x="171450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9" name="Ellipse 9"/>
          <p:cNvSpPr/>
          <p:nvPr/>
        </p:nvSpPr>
        <p:spPr>
          <a:xfrm>
            <a:off x="9310688" y="2338388"/>
            <a:ext cx="47625" cy="47625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10" name="Polyline 10"/>
          <p:cNvSpPr/>
          <p:nvPr/>
        </p:nvSpPr>
        <p:spPr>
          <a:xfrm>
            <a:off x="7620000" y="2952750"/>
            <a:ext cx="1714500" cy="333375"/>
          </a:xfrm>
          <a:custGeom>
            <a:avLst/>
            <a:gdLst/>
            <a:ahLst/>
            <a:cxnLst/>
            <a:rect l="l" t="t" r="r" b="b"/>
            <a:pathLst>
              <a:path w="1714500" h="333375">
                <a:moveTo>
                  <a:pt x="0" y="285750"/>
                </a:moveTo>
                <a:lnTo>
                  <a:pt x="190500" y="333375"/>
                </a:lnTo>
                <a:lnTo>
                  <a:pt x="381000" y="238125"/>
                </a:lnTo>
                <a:lnTo>
                  <a:pt x="571500" y="266700"/>
                </a:lnTo>
                <a:lnTo>
                  <a:pt x="762000" y="190500"/>
                </a:lnTo>
                <a:lnTo>
                  <a:pt x="952500" y="142875"/>
                </a:lnTo>
                <a:lnTo>
                  <a:pt x="1143000" y="171450"/>
                </a:lnTo>
                <a:lnTo>
                  <a:pt x="1333500" y="95250"/>
                </a:lnTo>
                <a:lnTo>
                  <a:pt x="1524000" y="47625"/>
                </a:lnTo>
                <a:lnTo>
                  <a:pt x="171450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310688" y="2928938"/>
            <a:ext cx="47625" cy="47625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12" name="Polyline 12"/>
          <p:cNvSpPr/>
          <p:nvPr/>
        </p:nvSpPr>
        <p:spPr>
          <a:xfrm>
            <a:off x="7620000" y="3476625"/>
            <a:ext cx="1714500" cy="190500"/>
          </a:xfrm>
          <a:custGeom>
            <a:avLst/>
            <a:gdLst/>
            <a:ahLst/>
            <a:cxnLst/>
            <a:rect l="l" t="t" r="r" b="b"/>
            <a:pathLst>
              <a:path w="1714500" h="190500">
                <a:moveTo>
                  <a:pt x="0" y="142875"/>
                </a:moveTo>
                <a:lnTo>
                  <a:pt x="190500" y="190500"/>
                </a:lnTo>
                <a:lnTo>
                  <a:pt x="381000" y="123825"/>
                </a:lnTo>
                <a:lnTo>
                  <a:pt x="571500" y="161925"/>
                </a:lnTo>
                <a:lnTo>
                  <a:pt x="762000" y="95250"/>
                </a:lnTo>
                <a:lnTo>
                  <a:pt x="952500" y="142875"/>
                </a:lnTo>
                <a:lnTo>
                  <a:pt x="1143000" y="66675"/>
                </a:lnTo>
                <a:lnTo>
                  <a:pt x="1333500" y="47625"/>
                </a:lnTo>
                <a:lnTo>
                  <a:pt x="1524000" y="28575"/>
                </a:lnTo>
                <a:lnTo>
                  <a:pt x="171450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9310688" y="3452812"/>
            <a:ext cx="47625" cy="47625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66898" y="23112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59"/>
                </a:solidFill>
                <a:latin typeface="Georgia"/>
                <a:ea typeface="SimSun"/>
                <a:cs typeface="Georgia"/>
              </a:rPr>
              <a:t>+32%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6898" y="290179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59"/>
                </a:solidFill>
                <a:latin typeface="Georgia"/>
                <a:ea typeface="SimSun"/>
                <a:cs typeface="Georgia"/>
              </a:rPr>
              <a:t>+18%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6898" y="3425666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59"/>
                </a:solidFill>
                <a:latin typeface="Georgia"/>
                <a:ea typeface="SimSun"/>
                <a:cs typeface="Georgia"/>
              </a:rPr>
              <a:t>+4%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0570" y="379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C59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107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信息架构流派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7710" y="661035"/>
            <a:ext cx="148818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333333"/>
                </a:solidFill>
                <a:latin typeface="Georgia"/>
                <a:ea typeface="SimSun"/>
                <a:cs typeface="Georgia"/>
              </a:rPr>
              <a:t>Tufte 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7410" y="661035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数据真实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5808" y="1291114"/>
            <a:ext cx="29745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i="1" dirty="0">
                <a:solidFill>
                  <a:srgbClr val="333333">
                    <a:alpha val="70000"/>
                  </a:srgbClr>
                </a:solidFill>
                <a:latin typeface="Georgia"/>
                <a:ea typeface="SimSun"/>
                <a:cs typeface="Georgia"/>
              </a:rPr>
              <a:t>"Above all else, show the data."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7712" y="154543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——最重要的是，展示数据。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2029778"/>
            <a:ext cx="7915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Visual DNA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712" y="2259806"/>
            <a:ext cx="32243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数据墨水比 · 迷你图 · 小多图 · 高密度显示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744152"/>
            <a:ext cx="984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0108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图表无网格线、无边框、无背景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239452"/>
            <a:ext cx="31013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fill-opacity 和 stroke-width 取最小可用值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34680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小多图布局在网格中重复相同尺寸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6966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每页高密度数据点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8665" y="4363402"/>
            <a:ext cx="984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8665" y="463010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科学演示 · 研究报告 · 定量分析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8665" y="50777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8665" y="5315902"/>
            <a:ext cx="3967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墨水印纸：深色文字 + 白/米色背景，颜色仅用于数据编码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5887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8260" y="58712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★★★☆☆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8368" y="589549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数据优先的受众非常有力；一般受众可能过于简朴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902D1E9F-3111-6152-741B-96BB17C32C78}"/>
              </a:ext>
            </a:extLst>
          </p:cNvPr>
          <p:cNvSpPr txBox="1"/>
          <p:nvPr/>
        </p:nvSpPr>
        <p:spPr>
          <a:xfrm>
            <a:off x="5321618" y="1894999"/>
            <a:ext cx="1557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Data-Ink Ratio 可视化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9294693F-AD0A-68AE-D77F-8C02CDEE5CD8}"/>
              </a:ext>
            </a:extLst>
          </p:cNvPr>
          <p:cNvSpPr/>
          <p:nvPr/>
        </p:nvSpPr>
        <p:spPr>
          <a:xfrm>
            <a:off x="5334000" y="2190750"/>
            <a:ext cx="2857500" cy="1047750"/>
          </a:xfrm>
          <a:prstGeom prst="rect">
            <a:avLst/>
          </a:prstGeom>
          <a:noFill/>
          <a:ln w="4762">
            <a:solidFill>
              <a:srgbClr val="CCCCCC"/>
            </a:solidFill>
          </a:ln>
        </p:spPr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852B7B05-BF88-D786-57C1-DD3BD11C09F7}"/>
              </a:ext>
            </a:extLst>
          </p:cNvPr>
          <p:cNvSpPr txBox="1"/>
          <p:nvPr/>
        </p:nvSpPr>
        <p:spPr>
          <a:xfrm>
            <a:off x="5419725" y="2281238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Georgia"/>
                <a:ea typeface="SimSun"/>
                <a:cs typeface="Georgia"/>
              </a:rPr>
              <a:t>装饰过多 ✗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5164B814-E9D3-EDD9-86FD-968CB73E6B76}"/>
              </a:ext>
            </a:extLst>
          </p:cNvPr>
          <p:cNvSpPr/>
          <p:nvPr/>
        </p:nvSpPr>
        <p:spPr>
          <a:xfrm>
            <a:off x="5524500" y="2476500"/>
            <a:ext cx="2476500" cy="666750"/>
          </a:xfrm>
          <a:prstGeom prst="rect">
            <a:avLst/>
          </a:prstGeom>
          <a:solidFill>
            <a:srgbClr val="F0E6D0">
              <a:alpha val="30000"/>
            </a:srgbClr>
          </a:solidFill>
          <a:ln>
            <a:noFill/>
          </a:ln>
        </p:spPr>
      </p:sp>
      <p:sp>
        <p:nvSpPr>
          <p:cNvPr id="41" name="Line 24">
            <a:extLst>
              <a:ext uri="{FF2B5EF4-FFF2-40B4-BE49-F238E27FC236}">
                <a16:creationId xmlns:a16="http://schemas.microsoft.com/office/drawing/2014/main" id="{7103E385-625D-D2EC-5871-77002969B204}"/>
              </a:ext>
            </a:extLst>
          </p:cNvPr>
          <p:cNvSpPr/>
          <p:nvPr/>
        </p:nvSpPr>
        <p:spPr>
          <a:xfrm>
            <a:off x="5524500" y="26670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2" name="Line 25">
            <a:extLst>
              <a:ext uri="{FF2B5EF4-FFF2-40B4-BE49-F238E27FC236}">
                <a16:creationId xmlns:a16="http://schemas.microsoft.com/office/drawing/2014/main" id="{AF1E2702-1BB7-68EF-899C-D9407AD7B2F4}"/>
              </a:ext>
            </a:extLst>
          </p:cNvPr>
          <p:cNvSpPr/>
          <p:nvPr/>
        </p:nvSpPr>
        <p:spPr>
          <a:xfrm>
            <a:off x="5524500" y="28575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3" name="Line 26">
            <a:extLst>
              <a:ext uri="{FF2B5EF4-FFF2-40B4-BE49-F238E27FC236}">
                <a16:creationId xmlns:a16="http://schemas.microsoft.com/office/drawing/2014/main" id="{4857B03A-508B-7CC6-F757-5E6524DA4384}"/>
              </a:ext>
            </a:extLst>
          </p:cNvPr>
          <p:cNvSpPr/>
          <p:nvPr/>
        </p:nvSpPr>
        <p:spPr>
          <a:xfrm>
            <a:off x="5524500" y="30480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15454987-1FCB-ABAB-EF99-4ACCFF5E092B}"/>
              </a:ext>
            </a:extLst>
          </p:cNvPr>
          <p:cNvSpPr/>
          <p:nvPr/>
        </p:nvSpPr>
        <p:spPr>
          <a:xfrm>
            <a:off x="6191250" y="24765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BC6C73B7-B541-8713-8CED-5AF5A2813322}"/>
              </a:ext>
            </a:extLst>
          </p:cNvPr>
          <p:cNvSpPr/>
          <p:nvPr/>
        </p:nvSpPr>
        <p:spPr>
          <a:xfrm>
            <a:off x="6858000" y="24765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3E8B3CBC-8917-CDD1-7A69-7045281682FD}"/>
              </a:ext>
            </a:extLst>
          </p:cNvPr>
          <p:cNvSpPr/>
          <p:nvPr/>
        </p:nvSpPr>
        <p:spPr>
          <a:xfrm>
            <a:off x="7524750" y="24765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9629EBEE-73B0-D1D7-E313-AF26ACCB8589}"/>
              </a:ext>
            </a:extLst>
          </p:cNvPr>
          <p:cNvSpPr/>
          <p:nvPr/>
        </p:nvSpPr>
        <p:spPr>
          <a:xfrm>
            <a:off x="5619750" y="2552700"/>
            <a:ext cx="476250" cy="495300"/>
          </a:xfrm>
          <a:prstGeom prst="rect">
            <a:avLst/>
          </a:prstGeom>
          <a:solidFill>
            <a:srgbClr val="C0392B">
              <a:alpha val="30000"/>
            </a:srgbClr>
          </a:solidFill>
          <a:ln>
            <a:noFill/>
          </a:ln>
        </p:spPr>
      </p:sp>
      <p:sp>
        <p:nvSpPr>
          <p:cNvPr id="48" name="Rectangle 31">
            <a:extLst>
              <a:ext uri="{FF2B5EF4-FFF2-40B4-BE49-F238E27FC236}">
                <a16:creationId xmlns:a16="http://schemas.microsoft.com/office/drawing/2014/main" id="{B313EBB1-5F60-7B1C-1E8E-5D928CC08477}"/>
              </a:ext>
            </a:extLst>
          </p:cNvPr>
          <p:cNvSpPr/>
          <p:nvPr/>
        </p:nvSpPr>
        <p:spPr>
          <a:xfrm>
            <a:off x="6286500" y="2647950"/>
            <a:ext cx="476250" cy="400050"/>
          </a:xfrm>
          <a:prstGeom prst="rect">
            <a:avLst/>
          </a:prstGeom>
          <a:solidFill>
            <a:srgbClr val="C0392B">
              <a:alpha val="30000"/>
            </a:srgbClr>
          </a:solidFill>
          <a:ln>
            <a:noFill/>
          </a:ln>
        </p:spPr>
      </p:sp>
      <p:sp>
        <p:nvSpPr>
          <p:cNvPr id="49" name="Rectangle 32">
            <a:extLst>
              <a:ext uri="{FF2B5EF4-FFF2-40B4-BE49-F238E27FC236}">
                <a16:creationId xmlns:a16="http://schemas.microsoft.com/office/drawing/2014/main" id="{48B406A2-9C9A-F5CC-8BD8-9B7239540FD9}"/>
              </a:ext>
            </a:extLst>
          </p:cNvPr>
          <p:cNvSpPr/>
          <p:nvPr/>
        </p:nvSpPr>
        <p:spPr>
          <a:xfrm>
            <a:off x="6953250" y="2743200"/>
            <a:ext cx="476250" cy="304800"/>
          </a:xfrm>
          <a:prstGeom prst="rect">
            <a:avLst/>
          </a:prstGeom>
          <a:solidFill>
            <a:srgbClr val="C0392B">
              <a:alpha val="30000"/>
            </a:srgbClr>
          </a:solidFill>
          <a:ln>
            <a:noFill/>
          </a:ln>
        </p:spPr>
      </p:sp>
      <p:sp>
        <p:nvSpPr>
          <p:cNvPr id="50" name="Rectangle 33">
            <a:extLst>
              <a:ext uri="{FF2B5EF4-FFF2-40B4-BE49-F238E27FC236}">
                <a16:creationId xmlns:a16="http://schemas.microsoft.com/office/drawing/2014/main" id="{532D6230-2764-0690-473B-13A0AA57C2D9}"/>
              </a:ext>
            </a:extLst>
          </p:cNvPr>
          <p:cNvSpPr/>
          <p:nvPr/>
        </p:nvSpPr>
        <p:spPr>
          <a:xfrm>
            <a:off x="7620000" y="2571750"/>
            <a:ext cx="285750" cy="476250"/>
          </a:xfrm>
          <a:prstGeom prst="rect">
            <a:avLst/>
          </a:prstGeom>
          <a:solidFill>
            <a:srgbClr val="C0392B">
              <a:alpha val="30000"/>
            </a:srgbClr>
          </a:solidFill>
          <a:ln>
            <a:noFill/>
          </a:ln>
        </p:spPr>
      </p:sp>
      <p:sp>
        <p:nvSpPr>
          <p:cNvPr id="51" name="Rectangle 34">
            <a:extLst>
              <a:ext uri="{FF2B5EF4-FFF2-40B4-BE49-F238E27FC236}">
                <a16:creationId xmlns:a16="http://schemas.microsoft.com/office/drawing/2014/main" id="{EC894B42-6FFF-5E20-B2B0-FE87DAB6402A}"/>
              </a:ext>
            </a:extLst>
          </p:cNvPr>
          <p:cNvSpPr/>
          <p:nvPr/>
        </p:nvSpPr>
        <p:spPr>
          <a:xfrm>
            <a:off x="5334000" y="3381375"/>
            <a:ext cx="2857500" cy="1047750"/>
          </a:xfrm>
          <a:prstGeom prst="rect">
            <a:avLst/>
          </a:prstGeom>
          <a:noFill/>
          <a:ln w="4762">
            <a:solidFill>
              <a:srgbClr val="CCCCCC"/>
            </a:solidFill>
          </a:ln>
        </p:spPr>
      </p:sp>
      <p:sp>
        <p:nvSpPr>
          <p:cNvPr id="52" name="TextBox 35">
            <a:extLst>
              <a:ext uri="{FF2B5EF4-FFF2-40B4-BE49-F238E27FC236}">
                <a16:creationId xmlns:a16="http://schemas.microsoft.com/office/drawing/2014/main" id="{036B4565-02D5-9F56-E77D-C301750619D3}"/>
              </a:ext>
            </a:extLst>
          </p:cNvPr>
          <p:cNvSpPr txBox="1"/>
          <p:nvPr/>
        </p:nvSpPr>
        <p:spPr>
          <a:xfrm>
            <a:off x="5419725" y="3471862"/>
            <a:ext cx="7529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27AE60"/>
                </a:solidFill>
                <a:latin typeface="Georgia"/>
                <a:ea typeface="SimSun"/>
                <a:cs typeface="Georgia"/>
              </a:rPr>
              <a:t>数据墨水比→1 ✓</a:t>
            </a:r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88B1B5E6-68E3-B950-1A39-69B2E6D3F980}"/>
              </a:ext>
            </a:extLst>
          </p:cNvPr>
          <p:cNvSpPr/>
          <p:nvPr/>
        </p:nvSpPr>
        <p:spPr>
          <a:xfrm>
            <a:off x="5524500" y="4333875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4762">
            <a:solidFill>
              <a:srgbClr val="EEEEEE"/>
            </a:solidFill>
          </a:ln>
        </p:spPr>
      </p:sp>
      <p:sp>
        <p:nvSpPr>
          <p:cNvPr id="54" name="Rectangle 37">
            <a:extLst>
              <a:ext uri="{FF2B5EF4-FFF2-40B4-BE49-F238E27FC236}">
                <a16:creationId xmlns:a16="http://schemas.microsoft.com/office/drawing/2014/main" id="{D41E202A-D3F8-3874-86FC-D911244600D0}"/>
              </a:ext>
            </a:extLst>
          </p:cNvPr>
          <p:cNvSpPr/>
          <p:nvPr/>
        </p:nvSpPr>
        <p:spPr>
          <a:xfrm>
            <a:off x="5619750" y="3743325"/>
            <a:ext cx="476250" cy="495300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5" name="Rectangle 38">
            <a:extLst>
              <a:ext uri="{FF2B5EF4-FFF2-40B4-BE49-F238E27FC236}">
                <a16:creationId xmlns:a16="http://schemas.microsoft.com/office/drawing/2014/main" id="{0366478B-AC76-6306-9D10-1D56DC02E32D}"/>
              </a:ext>
            </a:extLst>
          </p:cNvPr>
          <p:cNvSpPr/>
          <p:nvPr/>
        </p:nvSpPr>
        <p:spPr>
          <a:xfrm>
            <a:off x="6286500" y="3838575"/>
            <a:ext cx="476250" cy="400050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6" name="Rectangle 39">
            <a:extLst>
              <a:ext uri="{FF2B5EF4-FFF2-40B4-BE49-F238E27FC236}">
                <a16:creationId xmlns:a16="http://schemas.microsoft.com/office/drawing/2014/main" id="{721317A8-762C-27B6-1FE2-695BC0BDA6F2}"/>
              </a:ext>
            </a:extLst>
          </p:cNvPr>
          <p:cNvSpPr/>
          <p:nvPr/>
        </p:nvSpPr>
        <p:spPr>
          <a:xfrm>
            <a:off x="6953250" y="3933825"/>
            <a:ext cx="476250" cy="304800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7" name="Rectangle 40">
            <a:extLst>
              <a:ext uri="{FF2B5EF4-FFF2-40B4-BE49-F238E27FC236}">
                <a16:creationId xmlns:a16="http://schemas.microsoft.com/office/drawing/2014/main" id="{BC2DFEBB-136B-66DE-E31C-C354C2B075F5}"/>
              </a:ext>
            </a:extLst>
          </p:cNvPr>
          <p:cNvSpPr/>
          <p:nvPr/>
        </p:nvSpPr>
        <p:spPr>
          <a:xfrm>
            <a:off x="7620000" y="3762375"/>
            <a:ext cx="285750" cy="476250"/>
          </a:xfrm>
          <a:prstGeom prst="rect">
            <a:avLst/>
          </a:prstGeom>
          <a:solidFill>
            <a:srgbClr val="2C2C2C"/>
          </a:solidFill>
          <a:ln>
            <a:noFill/>
          </a:ln>
        </p:spPr>
      </p:sp>
      <p:sp>
        <p:nvSpPr>
          <p:cNvPr id="58" name="TextBox 41">
            <a:extLst>
              <a:ext uri="{FF2B5EF4-FFF2-40B4-BE49-F238E27FC236}">
                <a16:creationId xmlns:a16="http://schemas.microsoft.com/office/drawing/2014/main" id="{13EB1492-8C83-5B9B-D3D1-D95619937E0B}"/>
              </a:ext>
            </a:extLst>
          </p:cNvPr>
          <p:cNvSpPr txBox="1"/>
          <p:nvPr/>
        </p:nvSpPr>
        <p:spPr>
          <a:xfrm>
            <a:off x="5630228" y="364188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52</a:t>
            </a:r>
          </a:p>
        </p:txBody>
      </p:sp>
      <p:sp>
        <p:nvSpPr>
          <p:cNvPr id="59" name="TextBox 42">
            <a:extLst>
              <a:ext uri="{FF2B5EF4-FFF2-40B4-BE49-F238E27FC236}">
                <a16:creationId xmlns:a16="http://schemas.microsoft.com/office/drawing/2014/main" id="{D0F41581-32C2-6CED-9FE1-3D79347ED9C4}"/>
              </a:ext>
            </a:extLst>
          </p:cNvPr>
          <p:cNvSpPr txBox="1"/>
          <p:nvPr/>
        </p:nvSpPr>
        <p:spPr>
          <a:xfrm>
            <a:off x="6296978" y="373713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42</a:t>
            </a:r>
          </a:p>
        </p:txBody>
      </p:sp>
      <p:sp>
        <p:nvSpPr>
          <p:cNvPr id="60" name="TextBox 43">
            <a:extLst>
              <a:ext uri="{FF2B5EF4-FFF2-40B4-BE49-F238E27FC236}">
                <a16:creationId xmlns:a16="http://schemas.microsoft.com/office/drawing/2014/main" id="{CEFDD20B-8458-F0AC-0A71-4954DF173598}"/>
              </a:ext>
            </a:extLst>
          </p:cNvPr>
          <p:cNvSpPr txBox="1"/>
          <p:nvPr/>
        </p:nvSpPr>
        <p:spPr>
          <a:xfrm>
            <a:off x="6963728" y="383238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32</a:t>
            </a:r>
          </a:p>
        </p:txBody>
      </p:sp>
      <p:sp>
        <p:nvSpPr>
          <p:cNvPr id="61" name="TextBox 44">
            <a:extLst>
              <a:ext uri="{FF2B5EF4-FFF2-40B4-BE49-F238E27FC236}">
                <a16:creationId xmlns:a16="http://schemas.microsoft.com/office/drawing/2014/main" id="{D31CCA1A-56D0-89CF-829B-9B0B036AC9D1}"/>
              </a:ext>
            </a:extLst>
          </p:cNvPr>
          <p:cNvSpPr txBox="1"/>
          <p:nvPr/>
        </p:nvSpPr>
        <p:spPr>
          <a:xfrm>
            <a:off x="7630478" y="366093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50</a:t>
            </a:r>
          </a:p>
        </p:txBody>
      </p:sp>
      <p:sp>
        <p:nvSpPr>
          <p:cNvPr id="62" name="TextBox 45">
            <a:extLst>
              <a:ext uri="{FF2B5EF4-FFF2-40B4-BE49-F238E27FC236}">
                <a16:creationId xmlns:a16="http://schemas.microsoft.com/office/drawing/2014/main" id="{877D29D4-310F-F152-5422-D6D325048674}"/>
              </a:ext>
            </a:extLst>
          </p:cNvPr>
          <p:cNvSpPr txBox="1"/>
          <p:nvPr/>
        </p:nvSpPr>
        <p:spPr>
          <a:xfrm>
            <a:off x="8750618" y="1894999"/>
            <a:ext cx="1093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C2C2C"/>
                </a:solidFill>
                <a:latin typeface="Georgia"/>
                <a:ea typeface="SimSun"/>
                <a:cs typeface="Georgia"/>
              </a:rPr>
              <a:t>Small Multiples</a:t>
            </a:r>
          </a:p>
        </p:txBody>
      </p:sp>
      <p:sp>
        <p:nvSpPr>
          <p:cNvPr id="63" name="Rectangle 46">
            <a:extLst>
              <a:ext uri="{FF2B5EF4-FFF2-40B4-BE49-F238E27FC236}">
                <a16:creationId xmlns:a16="http://schemas.microsoft.com/office/drawing/2014/main" id="{EBFEF3F9-6837-7C2F-CB5B-FFDCEBAD88BA}"/>
              </a:ext>
            </a:extLst>
          </p:cNvPr>
          <p:cNvSpPr/>
          <p:nvPr/>
        </p:nvSpPr>
        <p:spPr>
          <a:xfrm>
            <a:off x="8763000" y="2143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64" name="Polyline 47">
            <a:extLst>
              <a:ext uri="{FF2B5EF4-FFF2-40B4-BE49-F238E27FC236}">
                <a16:creationId xmlns:a16="http://schemas.microsoft.com/office/drawing/2014/main" id="{15AC6499-8638-0B57-432B-7AF84B46A445}"/>
              </a:ext>
            </a:extLst>
          </p:cNvPr>
          <p:cNvSpPr/>
          <p:nvPr/>
        </p:nvSpPr>
        <p:spPr>
          <a:xfrm>
            <a:off x="8858250" y="2381250"/>
            <a:ext cx="714375" cy="285750"/>
          </a:xfrm>
          <a:custGeom>
            <a:avLst/>
            <a:gdLst/>
            <a:ahLst/>
            <a:cxnLst/>
            <a:rect l="l" t="t" r="r" b="b"/>
            <a:pathLst>
              <a:path w="714375" h="285750">
                <a:moveTo>
                  <a:pt x="0" y="285750"/>
                </a:moveTo>
                <a:lnTo>
                  <a:pt x="142875" y="142875"/>
                </a:lnTo>
                <a:lnTo>
                  <a:pt x="285750" y="190500"/>
                </a:lnTo>
                <a:lnTo>
                  <a:pt x="428625" y="47625"/>
                </a:lnTo>
                <a:lnTo>
                  <a:pt x="571500" y="95250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2C2C2C"/>
            </a:solidFill>
          </a:ln>
        </p:spPr>
      </p:sp>
      <p:sp>
        <p:nvSpPr>
          <p:cNvPr id="65" name="TextBox 48">
            <a:extLst>
              <a:ext uri="{FF2B5EF4-FFF2-40B4-BE49-F238E27FC236}">
                <a16:creationId xmlns:a16="http://schemas.microsoft.com/office/drawing/2014/main" id="{D702E268-E0EC-B712-232C-7EEBD7994DE8}"/>
              </a:ext>
            </a:extLst>
          </p:cNvPr>
          <p:cNvSpPr txBox="1"/>
          <p:nvPr/>
        </p:nvSpPr>
        <p:spPr>
          <a:xfrm>
            <a:off x="8803005" y="2221230"/>
            <a:ext cx="1072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999999"/>
                </a:solidFill>
                <a:latin typeface="Georgia"/>
                <a:ea typeface="SimSun"/>
                <a:cs typeface="Georgia"/>
              </a:rPr>
              <a:t>Q1</a:t>
            </a:r>
          </a:p>
        </p:txBody>
      </p:sp>
      <p:sp>
        <p:nvSpPr>
          <p:cNvPr id="66" name="Rectangle 49">
            <a:extLst>
              <a:ext uri="{FF2B5EF4-FFF2-40B4-BE49-F238E27FC236}">
                <a16:creationId xmlns:a16="http://schemas.microsoft.com/office/drawing/2014/main" id="{CF65BF5C-6770-AF9A-4D7D-789AA7BEE165}"/>
              </a:ext>
            </a:extLst>
          </p:cNvPr>
          <p:cNvSpPr/>
          <p:nvPr/>
        </p:nvSpPr>
        <p:spPr>
          <a:xfrm>
            <a:off x="9810750" y="2143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67" name="Polyline 50">
            <a:extLst>
              <a:ext uri="{FF2B5EF4-FFF2-40B4-BE49-F238E27FC236}">
                <a16:creationId xmlns:a16="http://schemas.microsoft.com/office/drawing/2014/main" id="{840DF5E7-49A8-AEF8-13A3-2DBE0E237F0F}"/>
              </a:ext>
            </a:extLst>
          </p:cNvPr>
          <p:cNvSpPr/>
          <p:nvPr/>
        </p:nvSpPr>
        <p:spPr>
          <a:xfrm>
            <a:off x="9906000" y="2333625"/>
            <a:ext cx="714375" cy="285750"/>
          </a:xfrm>
          <a:custGeom>
            <a:avLst/>
            <a:gdLst/>
            <a:ahLst/>
            <a:cxnLst/>
            <a:rect l="l" t="t" r="r" b="b"/>
            <a:pathLst>
              <a:path w="714375" h="285750">
                <a:moveTo>
                  <a:pt x="0" y="285750"/>
                </a:moveTo>
                <a:lnTo>
                  <a:pt x="142875" y="238125"/>
                </a:lnTo>
                <a:lnTo>
                  <a:pt x="285750" y="142875"/>
                </a:lnTo>
                <a:lnTo>
                  <a:pt x="428625" y="123825"/>
                </a:lnTo>
                <a:lnTo>
                  <a:pt x="571500" y="47625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2C2C2C"/>
            </a:solidFill>
          </a:ln>
        </p:spPr>
      </p:sp>
      <p:sp>
        <p:nvSpPr>
          <p:cNvPr id="68" name="TextBox 51">
            <a:extLst>
              <a:ext uri="{FF2B5EF4-FFF2-40B4-BE49-F238E27FC236}">
                <a16:creationId xmlns:a16="http://schemas.microsoft.com/office/drawing/2014/main" id="{BF7D0026-8AE0-482C-CB62-356849A41095}"/>
              </a:ext>
            </a:extLst>
          </p:cNvPr>
          <p:cNvSpPr txBox="1"/>
          <p:nvPr/>
        </p:nvSpPr>
        <p:spPr>
          <a:xfrm>
            <a:off x="9850755" y="2221230"/>
            <a:ext cx="12915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999999"/>
                </a:solidFill>
                <a:latin typeface="Georgia"/>
                <a:ea typeface="SimSun"/>
                <a:cs typeface="Georgia"/>
              </a:rPr>
              <a:t>Q2</a:t>
            </a:r>
          </a:p>
        </p:txBody>
      </p:sp>
      <p:sp>
        <p:nvSpPr>
          <p:cNvPr id="69" name="Rectangle 52">
            <a:extLst>
              <a:ext uri="{FF2B5EF4-FFF2-40B4-BE49-F238E27FC236}">
                <a16:creationId xmlns:a16="http://schemas.microsoft.com/office/drawing/2014/main" id="{97C91AE9-1559-6CA4-5551-F2DC24A88ACF}"/>
              </a:ext>
            </a:extLst>
          </p:cNvPr>
          <p:cNvSpPr/>
          <p:nvPr/>
        </p:nvSpPr>
        <p:spPr>
          <a:xfrm>
            <a:off x="8763000" y="2905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70" name="Polyline 53">
            <a:extLst>
              <a:ext uri="{FF2B5EF4-FFF2-40B4-BE49-F238E27FC236}">
                <a16:creationId xmlns:a16="http://schemas.microsoft.com/office/drawing/2014/main" id="{2D9A8AD3-1888-20EF-A307-2B2A7F68A8A9}"/>
              </a:ext>
            </a:extLst>
          </p:cNvPr>
          <p:cNvSpPr/>
          <p:nvPr/>
        </p:nvSpPr>
        <p:spPr>
          <a:xfrm>
            <a:off x="8858250" y="3190875"/>
            <a:ext cx="714375" cy="238125"/>
          </a:xfrm>
          <a:custGeom>
            <a:avLst/>
            <a:gdLst/>
            <a:ahLst/>
            <a:cxnLst/>
            <a:rect l="l" t="t" r="r" b="b"/>
            <a:pathLst>
              <a:path w="714375" h="238125">
                <a:moveTo>
                  <a:pt x="0" y="238125"/>
                </a:moveTo>
                <a:lnTo>
                  <a:pt x="142875" y="142875"/>
                </a:lnTo>
                <a:lnTo>
                  <a:pt x="285750" y="190500"/>
                </a:lnTo>
                <a:lnTo>
                  <a:pt x="428625" y="95250"/>
                </a:lnTo>
                <a:lnTo>
                  <a:pt x="571500" y="47625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2C2C2C"/>
            </a:solidFill>
          </a:ln>
        </p:spPr>
      </p:sp>
      <p:sp>
        <p:nvSpPr>
          <p:cNvPr id="71" name="TextBox 54">
            <a:extLst>
              <a:ext uri="{FF2B5EF4-FFF2-40B4-BE49-F238E27FC236}">
                <a16:creationId xmlns:a16="http://schemas.microsoft.com/office/drawing/2014/main" id="{4C6B912D-B880-13A5-C6CF-2669DE9F1E26}"/>
              </a:ext>
            </a:extLst>
          </p:cNvPr>
          <p:cNvSpPr txBox="1"/>
          <p:nvPr/>
        </p:nvSpPr>
        <p:spPr>
          <a:xfrm>
            <a:off x="8803005" y="2983230"/>
            <a:ext cx="12915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999999"/>
                </a:solidFill>
                <a:latin typeface="Georgia"/>
                <a:ea typeface="SimSun"/>
                <a:cs typeface="Georgia"/>
              </a:rPr>
              <a:t>Q3</a:t>
            </a:r>
          </a:p>
        </p:txBody>
      </p:sp>
      <p:sp>
        <p:nvSpPr>
          <p:cNvPr id="72" name="Rectangle 55">
            <a:extLst>
              <a:ext uri="{FF2B5EF4-FFF2-40B4-BE49-F238E27FC236}">
                <a16:creationId xmlns:a16="http://schemas.microsoft.com/office/drawing/2014/main" id="{D01C631F-D769-779F-63DF-52E4A920CDDB}"/>
              </a:ext>
            </a:extLst>
          </p:cNvPr>
          <p:cNvSpPr/>
          <p:nvPr/>
        </p:nvSpPr>
        <p:spPr>
          <a:xfrm>
            <a:off x="9810750" y="2905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73" name="Polyline 56">
            <a:extLst>
              <a:ext uri="{FF2B5EF4-FFF2-40B4-BE49-F238E27FC236}">
                <a16:creationId xmlns:a16="http://schemas.microsoft.com/office/drawing/2014/main" id="{20F0D2D5-1A74-9291-A5BD-B98125407750}"/>
              </a:ext>
            </a:extLst>
          </p:cNvPr>
          <p:cNvSpPr/>
          <p:nvPr/>
        </p:nvSpPr>
        <p:spPr>
          <a:xfrm>
            <a:off x="9906000" y="3143250"/>
            <a:ext cx="714375" cy="285750"/>
          </a:xfrm>
          <a:custGeom>
            <a:avLst/>
            <a:gdLst/>
            <a:ahLst/>
            <a:cxnLst/>
            <a:rect l="l" t="t" r="r" b="b"/>
            <a:pathLst>
              <a:path w="714375" h="285750">
                <a:moveTo>
                  <a:pt x="0" y="285750"/>
                </a:moveTo>
                <a:lnTo>
                  <a:pt x="142875" y="266700"/>
                </a:lnTo>
                <a:lnTo>
                  <a:pt x="285750" y="190500"/>
                </a:lnTo>
                <a:lnTo>
                  <a:pt x="428625" y="114300"/>
                </a:lnTo>
                <a:lnTo>
                  <a:pt x="571500" y="76200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2C2C2C"/>
            </a:solidFill>
          </a:ln>
        </p:spPr>
      </p:sp>
      <p:sp>
        <p:nvSpPr>
          <p:cNvPr id="74" name="TextBox 57">
            <a:extLst>
              <a:ext uri="{FF2B5EF4-FFF2-40B4-BE49-F238E27FC236}">
                <a16:creationId xmlns:a16="http://schemas.microsoft.com/office/drawing/2014/main" id="{44C9D810-86AD-0901-F971-94E69BDEB4E2}"/>
              </a:ext>
            </a:extLst>
          </p:cNvPr>
          <p:cNvSpPr txBox="1"/>
          <p:nvPr/>
        </p:nvSpPr>
        <p:spPr>
          <a:xfrm>
            <a:off x="9850755" y="2983230"/>
            <a:ext cx="12915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999999"/>
                </a:solidFill>
                <a:latin typeface="Georgia"/>
                <a:ea typeface="SimSun"/>
                <a:cs typeface="Georgia"/>
              </a:rPr>
              <a:t>Q4</a:t>
            </a:r>
          </a:p>
        </p:txBody>
      </p:sp>
      <p:sp>
        <p:nvSpPr>
          <p:cNvPr id="75" name="Rectangle 58">
            <a:extLst>
              <a:ext uri="{FF2B5EF4-FFF2-40B4-BE49-F238E27FC236}">
                <a16:creationId xmlns:a16="http://schemas.microsoft.com/office/drawing/2014/main" id="{D0DA1C26-809D-B09E-8FE1-3F4859AE90E5}"/>
              </a:ext>
            </a:extLst>
          </p:cNvPr>
          <p:cNvSpPr/>
          <p:nvPr/>
        </p:nvSpPr>
        <p:spPr>
          <a:xfrm>
            <a:off x="8763000" y="3667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76" name="Polyline 59">
            <a:extLst>
              <a:ext uri="{FF2B5EF4-FFF2-40B4-BE49-F238E27FC236}">
                <a16:creationId xmlns:a16="http://schemas.microsoft.com/office/drawing/2014/main" id="{7979E879-85BA-111F-7F82-113FFF99C721}"/>
              </a:ext>
            </a:extLst>
          </p:cNvPr>
          <p:cNvSpPr/>
          <p:nvPr/>
        </p:nvSpPr>
        <p:spPr>
          <a:xfrm>
            <a:off x="8858250" y="3905250"/>
            <a:ext cx="714375" cy="285750"/>
          </a:xfrm>
          <a:custGeom>
            <a:avLst/>
            <a:gdLst/>
            <a:ahLst/>
            <a:cxnLst/>
            <a:rect l="l" t="t" r="r" b="b"/>
            <a:pathLst>
              <a:path w="714375" h="285750">
                <a:moveTo>
                  <a:pt x="0" y="285750"/>
                </a:moveTo>
                <a:lnTo>
                  <a:pt x="142875" y="238125"/>
                </a:lnTo>
                <a:lnTo>
                  <a:pt x="285750" y="142875"/>
                </a:lnTo>
                <a:lnTo>
                  <a:pt x="428625" y="95250"/>
                </a:lnTo>
                <a:lnTo>
                  <a:pt x="571500" y="76200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C0392B"/>
            </a:solidFill>
          </a:ln>
        </p:spPr>
      </p:sp>
      <p:sp>
        <p:nvSpPr>
          <p:cNvPr id="77" name="TextBox 60">
            <a:extLst>
              <a:ext uri="{FF2B5EF4-FFF2-40B4-BE49-F238E27FC236}">
                <a16:creationId xmlns:a16="http://schemas.microsoft.com/office/drawing/2014/main" id="{222C7F63-6C30-2C87-6737-F725C0D4A096}"/>
              </a:ext>
            </a:extLst>
          </p:cNvPr>
          <p:cNvSpPr txBox="1"/>
          <p:nvPr/>
        </p:nvSpPr>
        <p:spPr>
          <a:xfrm>
            <a:off x="8803005" y="3745230"/>
            <a:ext cx="1598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C0392B"/>
                </a:solidFill>
                <a:latin typeface="Georgia"/>
                <a:ea typeface="SimSun"/>
                <a:cs typeface="Georgia"/>
              </a:rPr>
              <a:t>YTD</a:t>
            </a:r>
          </a:p>
        </p:txBody>
      </p:sp>
      <p:sp>
        <p:nvSpPr>
          <p:cNvPr id="78" name="Rectangle 61">
            <a:extLst>
              <a:ext uri="{FF2B5EF4-FFF2-40B4-BE49-F238E27FC236}">
                <a16:creationId xmlns:a16="http://schemas.microsoft.com/office/drawing/2014/main" id="{FB3B4BD9-5FDC-4406-AF18-D38AF3281657}"/>
              </a:ext>
            </a:extLst>
          </p:cNvPr>
          <p:cNvSpPr/>
          <p:nvPr/>
        </p:nvSpPr>
        <p:spPr>
          <a:xfrm>
            <a:off x="9810750" y="3667125"/>
            <a:ext cx="952500" cy="666750"/>
          </a:xfrm>
          <a:prstGeom prst="rect">
            <a:avLst/>
          </a:prstGeom>
          <a:noFill/>
          <a:ln w="4762">
            <a:solidFill>
              <a:srgbClr val="DDDDDD"/>
            </a:solidFill>
          </a:ln>
        </p:spPr>
      </p:sp>
      <p:sp>
        <p:nvSpPr>
          <p:cNvPr id="79" name="Polyline 62">
            <a:extLst>
              <a:ext uri="{FF2B5EF4-FFF2-40B4-BE49-F238E27FC236}">
                <a16:creationId xmlns:a16="http://schemas.microsoft.com/office/drawing/2014/main" id="{F41CE794-1A83-4CD9-10F6-E6A2AB058CCC}"/>
              </a:ext>
            </a:extLst>
          </p:cNvPr>
          <p:cNvSpPr/>
          <p:nvPr/>
        </p:nvSpPr>
        <p:spPr>
          <a:xfrm>
            <a:off x="9906000" y="3810000"/>
            <a:ext cx="714375" cy="381000"/>
          </a:xfrm>
          <a:custGeom>
            <a:avLst/>
            <a:gdLst/>
            <a:ahLst/>
            <a:cxnLst/>
            <a:rect l="l" t="t" r="r" b="b"/>
            <a:pathLst>
              <a:path w="714375" h="381000">
                <a:moveTo>
                  <a:pt x="0" y="381000"/>
                </a:moveTo>
                <a:lnTo>
                  <a:pt x="142875" y="285750"/>
                </a:lnTo>
                <a:lnTo>
                  <a:pt x="285750" y="238125"/>
                </a:lnTo>
                <a:lnTo>
                  <a:pt x="428625" y="142875"/>
                </a:lnTo>
                <a:lnTo>
                  <a:pt x="571500" y="95250"/>
                </a:lnTo>
                <a:lnTo>
                  <a:pt x="714375" y="0"/>
                </a:lnTo>
              </a:path>
            </a:pathLst>
          </a:custGeom>
          <a:noFill/>
          <a:ln w="9525">
            <a:solidFill>
              <a:srgbClr val="2C7BB6"/>
            </a:solidFill>
          </a:ln>
        </p:spPr>
      </p:sp>
      <p:sp>
        <p:nvSpPr>
          <p:cNvPr id="80" name="TextBox 63">
            <a:extLst>
              <a:ext uri="{FF2B5EF4-FFF2-40B4-BE49-F238E27FC236}">
                <a16:creationId xmlns:a16="http://schemas.microsoft.com/office/drawing/2014/main" id="{5B20600C-755B-C467-8046-4C1521AA477A}"/>
              </a:ext>
            </a:extLst>
          </p:cNvPr>
          <p:cNvSpPr txBox="1"/>
          <p:nvPr/>
        </p:nvSpPr>
        <p:spPr>
          <a:xfrm>
            <a:off x="9850755" y="3745230"/>
            <a:ext cx="19050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dirty="0">
                <a:solidFill>
                  <a:srgbClr val="2C7BB6"/>
                </a:solidFill>
                <a:latin typeface="Georgia"/>
                <a:ea typeface="SimSun"/>
                <a:cs typeface="Georgia"/>
              </a:rPr>
              <a:t>预测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8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23950" y="1409700"/>
            <a:ext cx="38100" cy="38100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352675" y="1876425"/>
            <a:ext cx="57150" cy="57150"/>
          </a:xfrm>
          <a:prstGeom prst="ellipse">
            <a:avLst/>
          </a:prstGeom>
          <a:solidFill>
            <a:srgbClr val="00FF88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3795712" y="1128712"/>
            <a:ext cx="28575" cy="28575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214938" y="1690688"/>
            <a:ext cx="47625" cy="47625"/>
          </a:xfrm>
          <a:prstGeom prst="ellipse">
            <a:avLst/>
          </a:prstGeom>
          <a:solidFill>
            <a:srgbClr val="00FF88">
              <a:alpha val="2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648450" y="933450"/>
            <a:ext cx="38100" cy="38100"/>
          </a:xfrm>
          <a:prstGeom prst="ellipse">
            <a:avLst/>
          </a:prstGeom>
          <a:solidFill>
            <a:srgbClr val="00D4FF">
              <a:alpha val="3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067675" y="1495425"/>
            <a:ext cx="57150" cy="57150"/>
          </a:xfrm>
          <a:prstGeom prst="ellipse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510712" y="1223962"/>
            <a:ext cx="28575" cy="28575"/>
          </a:xfrm>
          <a:prstGeom prst="ellipse">
            <a:avLst/>
          </a:prstGeom>
          <a:solidFill>
            <a:srgbClr val="00FF88">
              <a:alpha val="4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934700" y="1790700"/>
            <a:ext cx="38100" cy="3810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85950" y="5219700"/>
            <a:ext cx="38100" cy="38100"/>
          </a:xfrm>
          <a:prstGeom prst="ellipse">
            <a:avLst/>
          </a:prstGeom>
          <a:solidFill>
            <a:srgbClr val="00FF88">
              <a:alpha val="2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319462" y="5700712"/>
            <a:ext cx="28575" cy="28575"/>
          </a:xfrm>
          <a:prstGeom prst="ellipse">
            <a:avLst/>
          </a:prstGeom>
          <a:solidFill>
            <a:srgbClr val="00D4FF">
              <a:alpha val="3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733925" y="5495925"/>
            <a:ext cx="57150" cy="5715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124700" y="5886450"/>
            <a:ext cx="38100" cy="38100"/>
          </a:xfrm>
          <a:prstGeom prst="ellipse">
            <a:avLst/>
          </a:prstGeom>
          <a:solidFill>
            <a:srgbClr val="00FF88">
              <a:alpha val="30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8548688" y="5310188"/>
            <a:ext cx="47625" cy="47625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9986962" y="5605462"/>
            <a:ext cx="28575" cy="28575"/>
          </a:xfrm>
          <a:prstGeom prst="ellipse">
            <a:avLst/>
          </a:prstGeom>
          <a:solidFill>
            <a:srgbClr val="00FF88">
              <a:alpha val="40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1220450" y="5219700"/>
            <a:ext cx="38100" cy="381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143000" y="1428750"/>
            <a:ext cx="1238250" cy="476250"/>
          </a:xfrm>
          <a:custGeom>
            <a:avLst/>
            <a:gdLst/>
            <a:ahLst/>
            <a:cxnLst/>
            <a:rect l="l" t="t" r="r" b="b"/>
            <a:pathLst>
              <a:path w="1238250" h="476250">
                <a:moveTo>
                  <a:pt x="0" y="0"/>
                </a:moveTo>
                <a:lnTo>
                  <a:pt x="1238250" y="476250"/>
                </a:lnTo>
              </a:path>
            </a:pathLst>
          </a:custGeom>
          <a:noFill/>
          <a:ln w="4762">
            <a:solidFill>
              <a:srgbClr val="00D4FF">
                <a:alpha val="10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2381250" y="114300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76200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00D4FF">
                <a:alpha val="8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5238750" y="95250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76200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00FF88">
                <a:alpha val="8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096250" y="1238250"/>
            <a:ext cx="1428750" cy="285750"/>
          </a:xfrm>
          <a:custGeom>
            <a:avLst/>
            <a:gdLst/>
            <a:ahLst/>
            <a:cxnLst/>
            <a:rect l="l" t="t" r="r" b="b"/>
            <a:pathLst>
              <a:path w="1428750" h="285750">
                <a:moveTo>
                  <a:pt x="0" y="28575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00D4FF">
                <a:alpha val="10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1905000" y="52387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0"/>
                </a:moveTo>
                <a:lnTo>
                  <a:pt x="1428750" y="476250"/>
                </a:lnTo>
              </a:path>
            </a:pathLst>
          </a:custGeom>
          <a:noFill/>
          <a:ln w="4762">
            <a:solidFill>
              <a:srgbClr val="00FF88">
                <a:alpha val="8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7143750" y="5334000"/>
            <a:ext cx="1428750" cy="571500"/>
          </a:xfrm>
          <a:custGeom>
            <a:avLst/>
            <a:gdLst/>
            <a:ahLst/>
            <a:cxnLst/>
            <a:rect l="l" t="t" r="r" b="b"/>
            <a:pathLst>
              <a:path w="1428750" h="571500">
                <a:moveTo>
                  <a:pt x="0" y="571500"/>
                </a:moveTo>
                <a:lnTo>
                  <a:pt x="1428750" y="0"/>
                </a:lnTo>
              </a:path>
            </a:pathLst>
          </a:custGeom>
          <a:noFill/>
          <a:ln w="4762">
            <a:solidFill>
              <a:srgbClr val="00D4FF">
                <a:alpha val="1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6250" y="1571625"/>
            <a:ext cx="4366974" cy="457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0" b="1" dirty="0">
                <a:solidFill>
                  <a:srgbClr val="00D4FF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3420" y="2750820"/>
            <a:ext cx="31597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Field.io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615" y="3725228"/>
            <a:ext cx="192690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0FF88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生成式动态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4238625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28600"/>
                </a:lnTo>
                <a:cubicBezTo>
                  <a:pt x="1524000" y="249642"/>
                  <a:pt x="1506942" y="266700"/>
                  <a:pt x="1485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D4FF">
              <a:alpha val="1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4421" y="4323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动感诗学流派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7712" y="4831556"/>
            <a:ext cx="16552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4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GENERATIVE DYNAMICS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39703" y="63798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6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700212" y="747712"/>
            <a:ext cx="28575" cy="28575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028950" y="1314450"/>
            <a:ext cx="38100" cy="38100"/>
          </a:xfrm>
          <a:prstGeom prst="ellipse">
            <a:avLst/>
          </a:prstGeom>
          <a:solidFill>
            <a:srgbClr val="00FF88">
              <a:alpha val="2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458450" y="838200"/>
            <a:ext cx="38100" cy="38100"/>
          </a:xfrm>
          <a:prstGeom prst="ellipse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034462" y="6176962"/>
            <a:ext cx="28575" cy="28575"/>
          </a:xfrm>
          <a:prstGeom prst="ellipse">
            <a:avLst/>
          </a:prstGeom>
          <a:solidFill>
            <a:srgbClr val="00FF88">
              <a:alpha val="3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885950" y="6457950"/>
            <a:ext cx="38100" cy="381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0570" y="3790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D4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动感诗学流派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5805" y="692468"/>
            <a:ext cx="203913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Field.io 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02305" y="692468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生成式动态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1283018"/>
            <a:ext cx="3011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FF88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"让计算美学可视化，技术即艺术"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1666875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28600"/>
                </a:lnTo>
                <a:cubicBezTo>
                  <a:pt x="1047750" y="249642"/>
                  <a:pt x="1030692" y="266700"/>
                  <a:pt x="10096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D4FF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88695" y="1742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粒子系统</a:t>
            </a:r>
          </a:p>
        </p:txBody>
      </p:sp>
      <p:sp>
        <p:nvSpPr>
          <p:cNvPr id="16" name="Freeform 16"/>
          <p:cNvSpPr/>
          <p:nvPr/>
        </p:nvSpPr>
        <p:spPr>
          <a:xfrm>
            <a:off x="1905000" y="1666875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38100" y="0"/>
                </a:moveTo>
                <a:lnTo>
                  <a:pt x="1009650" y="0"/>
                </a:lnTo>
                <a:cubicBezTo>
                  <a:pt x="1030692" y="0"/>
                  <a:pt x="1047750" y="17058"/>
                  <a:pt x="1047750" y="38100"/>
                </a:cubicBezTo>
                <a:lnTo>
                  <a:pt x="1047750" y="228600"/>
                </a:lnTo>
                <a:cubicBezTo>
                  <a:pt x="1047750" y="249642"/>
                  <a:pt x="1030692" y="266700"/>
                  <a:pt x="10096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D4FF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31695" y="1742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算法之美</a:t>
            </a:r>
          </a:p>
        </p:txBody>
      </p:sp>
      <p:sp>
        <p:nvSpPr>
          <p:cNvPr id="18" name="Freeform 18"/>
          <p:cNvSpPr/>
          <p:nvPr/>
        </p:nvSpPr>
        <p:spPr>
          <a:xfrm>
            <a:off x="3048000" y="166687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28600"/>
                </a:lnTo>
                <a:cubicBezTo>
                  <a:pt x="1143000" y="249642"/>
                  <a:pt x="1125942" y="266700"/>
                  <a:pt x="110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D4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322320" y="1742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深色画布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86250" y="1666875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228600"/>
                </a:lnTo>
                <a:cubicBezTo>
                  <a:pt x="1238250" y="249642"/>
                  <a:pt x="1221192" y="266700"/>
                  <a:pt x="1200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D4FF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36996" y="17425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D4FF"/>
                </a:solidFill>
                <a:latin typeface="Arial"/>
                <a:ea typeface="Microsoft YaHei"/>
                <a:cs typeface="Arial"/>
              </a:rPr>
              <a:t>发光数据点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7712" y="23550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665" y="2648902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深色背景 fill="#0A0A0A"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8665" y="289655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散点 circle 配不同 r 和 fill-opacity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8665" y="3144202"/>
            <a:ext cx="29940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节点间细连接 line stroke-opacity="0.15"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339185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径向渐变聚光灯 + 发光强调色</a:t>
            </a:r>
          </a:p>
        </p:txBody>
      </p:sp>
      <p:sp>
        <p:nvSpPr>
          <p:cNvPr id="27" name="Freeform 27"/>
          <p:cNvSpPr/>
          <p:nvPr/>
        </p:nvSpPr>
        <p:spPr>
          <a:xfrm>
            <a:off x="5905500" y="2238375"/>
            <a:ext cx="5524500" cy="2000250"/>
          </a:xfrm>
          <a:custGeom>
            <a:avLst/>
            <a:gdLst/>
            <a:ahLst/>
            <a:cxnLst/>
            <a:rect l="l" t="t" r="r" b="b"/>
            <a:pathLst>
              <a:path w="5524500" h="20002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1924050"/>
                </a:lnTo>
                <a:cubicBezTo>
                  <a:pt x="5524500" y="1966134"/>
                  <a:pt x="5490384" y="2000250"/>
                  <a:pt x="5448300" y="2000250"/>
                </a:cubicBezTo>
                <a:lnTo>
                  <a:pt x="76200" y="2000250"/>
                </a:lnTo>
                <a:cubicBezTo>
                  <a:pt x="34116" y="2000250"/>
                  <a:pt x="0" y="1966134"/>
                  <a:pt x="0" y="1924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0A0A"/>
          </a:solidFill>
          <a:ln w="4762">
            <a:solidFill>
              <a:srgbClr val="00D4FF">
                <a:alpha val="15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084570" y="23602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粒子网络演示</a:t>
            </a:r>
          </a:p>
        </p:txBody>
      </p:sp>
      <p:sp>
        <p:nvSpPr>
          <p:cNvPr id="29" name="Ellipse 29"/>
          <p:cNvSpPr/>
          <p:nvPr/>
        </p:nvSpPr>
        <p:spPr>
          <a:xfrm>
            <a:off x="6800850" y="3086100"/>
            <a:ext cx="114300" cy="114300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924800" y="2686050"/>
            <a:ext cx="152400" cy="152400"/>
          </a:xfrm>
          <a:prstGeom prst="ellipse">
            <a:avLst/>
          </a:prstGeom>
          <a:solidFill>
            <a:srgbClr val="00FF88">
              <a:alpha val="6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9096375" y="3286125"/>
            <a:ext cx="95250" cy="95250"/>
          </a:xfrm>
          <a:prstGeom prst="ellipse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10220325" y="2886075"/>
            <a:ext cx="133350" cy="133350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391400" y="3771900"/>
            <a:ext cx="76200" cy="76200"/>
          </a:xfrm>
          <a:prstGeom prst="ellipse">
            <a:avLst/>
          </a:prstGeom>
          <a:solidFill>
            <a:srgbClr val="00FF88">
              <a:alpha val="40000"/>
            </a:srgbClr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8515350" y="3562350"/>
            <a:ext cx="114300" cy="114300"/>
          </a:xfrm>
          <a:prstGeom prst="ellipse">
            <a:avLst/>
          </a:prstGeom>
          <a:solidFill>
            <a:srgbClr val="00D4FF">
              <a:alpha val="60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9667875" y="3857625"/>
            <a:ext cx="95250" cy="95250"/>
          </a:xfrm>
          <a:prstGeom prst="ellipse">
            <a:avLst/>
          </a:prstGeom>
          <a:solidFill>
            <a:srgbClr val="00FF88">
              <a:alpha val="50000"/>
            </a:srgbClr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6858000" y="276225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38100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00D4FF">
                <a:alpha val="20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8001000" y="2762250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0" y="0"/>
                </a:moveTo>
                <a:lnTo>
                  <a:pt x="1143000" y="57150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9144000" y="295275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38100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00FF88">
                <a:alpha val="15000"/>
              </a:srgbClr>
            </a:solidFill>
          </a:ln>
        </p:spPr>
      </p:sp>
      <p:sp>
        <p:nvSpPr>
          <p:cNvPr id="39" name="Line 39"/>
          <p:cNvSpPr/>
          <p:nvPr/>
        </p:nvSpPr>
        <p:spPr>
          <a:xfrm>
            <a:off x="6858000" y="31432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0" y="0"/>
                </a:moveTo>
                <a:lnTo>
                  <a:pt x="571500" y="666750"/>
                </a:lnTo>
              </a:path>
            </a:pathLst>
          </a:custGeom>
          <a:noFill/>
          <a:ln w="9525">
            <a:solidFill>
              <a:srgbClr val="00D4FF">
                <a:alpha val="10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7429500" y="3619500"/>
            <a:ext cx="1143000" cy="190500"/>
          </a:xfrm>
          <a:custGeom>
            <a:avLst/>
            <a:gdLst/>
            <a:ahLst/>
            <a:cxnLst/>
            <a:rect l="l" t="t" r="r" b="b"/>
            <a:pathLst>
              <a:path w="1143000" h="190500">
                <a:moveTo>
                  <a:pt x="0" y="19050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00FF88">
                <a:alpha val="12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8572500" y="361950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0" y="0"/>
                </a:moveTo>
                <a:lnTo>
                  <a:pt x="1143000" y="285750"/>
                </a:lnTo>
              </a:path>
            </a:pathLst>
          </a:custGeom>
          <a:noFill/>
          <a:ln w="9525">
            <a:solidFill>
              <a:srgbClr val="00D4FF">
                <a:alpha val="10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8001000" y="2762250"/>
            <a:ext cx="571500" cy="857250"/>
          </a:xfrm>
          <a:custGeom>
            <a:avLst/>
            <a:gdLst/>
            <a:ahLst/>
            <a:cxnLst/>
            <a:rect l="l" t="t" r="r" b="b"/>
            <a:pathLst>
              <a:path w="571500" h="857250">
                <a:moveTo>
                  <a:pt x="0" y="0"/>
                </a:moveTo>
                <a:lnTo>
                  <a:pt x="571500" y="857250"/>
                </a:lnTo>
              </a:path>
            </a:pathLst>
          </a:custGeom>
          <a:noFill/>
          <a:ln w="4762">
            <a:solidFill>
              <a:srgbClr val="00D4FF">
                <a:alpha val="8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47712" y="44505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8665" y="4744402"/>
            <a:ext cx="29863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AI/ML 产品发布 · 技术主题演讲 · 创新展示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7712" y="5212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8665" y="54873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深色画布 + 1-2 个发光强调色</a:t>
            </a:r>
          </a:p>
        </p:txBody>
      </p:sp>
      <p:sp>
        <p:nvSpPr>
          <p:cNvPr id="47" name="Ellipse 47"/>
          <p:cNvSpPr/>
          <p:nvPr/>
        </p:nvSpPr>
        <p:spPr>
          <a:xfrm>
            <a:off x="857250" y="5762625"/>
            <a:ext cx="190500" cy="1905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113472" y="5816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电光蓝</a:t>
            </a:r>
          </a:p>
        </p:txBody>
      </p:sp>
      <p:sp>
        <p:nvSpPr>
          <p:cNvPr id="49" name="Ellipse 49"/>
          <p:cNvSpPr/>
          <p:nvPr/>
        </p:nvSpPr>
        <p:spPr>
          <a:xfrm>
            <a:off x="1809750" y="5762625"/>
            <a:ext cx="190500" cy="1905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2065972" y="58164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鲜绿</a:t>
            </a:r>
          </a:p>
        </p:txBody>
      </p:sp>
      <p:sp>
        <p:nvSpPr>
          <p:cNvPr id="51" name="Ellipse 51"/>
          <p:cNvSpPr/>
          <p:nvPr/>
        </p:nvSpPr>
        <p:spPr>
          <a:xfrm>
            <a:off x="2667000" y="5762625"/>
            <a:ext cx="190500" cy="1905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923222" y="5816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暖琥珀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92165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461760" y="4442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★★★☆☆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321868" y="4466749"/>
            <a:ext cx="20966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科技主题震撼；不适合企业/政府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857500" cy="1905000"/>
          </a:xfrm>
          <a:custGeom>
            <a:avLst/>
            <a:gdLst/>
            <a:ahLst/>
            <a:cxnLst/>
            <a:rect l="l" t="t" r="r" b="b"/>
            <a:pathLst>
              <a:path w="2857500" h="1905000">
                <a:moveTo>
                  <a:pt x="0" y="0"/>
                </a:moveTo>
                <a:lnTo>
                  <a:pt x="2857500" y="0"/>
                </a:lnTo>
                <a:lnTo>
                  <a:pt x="1428750" y="1905000"/>
                </a:lnTo>
                <a:close/>
              </a:path>
            </a:pathLst>
          </a:custGeom>
          <a:solidFill>
            <a:srgbClr val="E94560">
              <a:alpha val="8000"/>
            </a:srgbClr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9525000" y="0"/>
            <a:ext cx="2667000" cy="2857500"/>
          </a:xfrm>
          <a:custGeom>
            <a:avLst/>
            <a:gdLst/>
            <a:ahLst/>
            <a:cxnLst/>
            <a:rect l="l" t="t" r="r" b="b"/>
            <a:pathLst>
              <a:path w="2667000" h="2857500">
                <a:moveTo>
                  <a:pt x="2667000" y="0"/>
                </a:moveTo>
                <a:lnTo>
                  <a:pt x="2667000" y="2857500"/>
                </a:lnTo>
                <a:lnTo>
                  <a:pt x="0" y="952500"/>
                </a:lnTo>
                <a:close/>
              </a:path>
            </a:pathLst>
          </a:custGeom>
          <a:solidFill>
            <a:srgbClr val="533483">
              <a:alpha val="10000"/>
            </a:srgbClr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0" y="4953000"/>
            <a:ext cx="3810000" cy="1905000"/>
          </a:xfrm>
          <a:custGeom>
            <a:avLst/>
            <a:gdLst/>
            <a:ahLst/>
            <a:cxnLst/>
            <a:rect l="l" t="t" r="r" b="b"/>
            <a:pathLst>
              <a:path w="3810000" h="1905000">
                <a:moveTo>
                  <a:pt x="0" y="1905000"/>
                </a:moveTo>
                <a:lnTo>
                  <a:pt x="3810000" y="1905000"/>
                </a:lnTo>
                <a:lnTo>
                  <a:pt x="1905000" y="0"/>
                </a:lnTo>
                <a:close/>
              </a:path>
            </a:pathLst>
          </a:custGeom>
          <a:solidFill>
            <a:srgbClr val="FFD93D">
              <a:alpha val="5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525000" y="4762500"/>
            <a:ext cx="2667000" cy="2095500"/>
          </a:xfrm>
          <a:custGeom>
            <a:avLst/>
            <a:gdLst/>
            <a:ahLst/>
            <a:cxnLst/>
            <a:rect l="l" t="t" r="r" b="b"/>
            <a:pathLst>
              <a:path w="2667000" h="2095500">
                <a:moveTo>
                  <a:pt x="2667000" y="2095500"/>
                </a:moveTo>
                <a:lnTo>
                  <a:pt x="0" y="2095500"/>
                </a:lnTo>
                <a:lnTo>
                  <a:pt x="1428750" y="0"/>
                </a:lnTo>
                <a:close/>
              </a:path>
            </a:pathLst>
          </a:custGeom>
          <a:solidFill>
            <a:srgbClr val="E94560">
              <a:alpha val="6000"/>
            </a:srgbClr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4762500" y="238125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476250"/>
                </a:moveTo>
                <a:lnTo>
                  <a:pt x="1905000" y="0"/>
                </a:lnTo>
                <a:lnTo>
                  <a:pt x="952500" y="1905000"/>
                </a:lnTo>
                <a:close/>
              </a:path>
            </a:pathLst>
          </a:custGeom>
          <a:solidFill>
            <a:srgbClr val="533483">
              <a:alpha val="4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 rot="-720000">
            <a:off x="1577007" y="3781425"/>
            <a:ext cx="9037987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E94560">
                    <a:alpha val="4000"/>
                  </a:srgbClr>
                </a:solidFill>
                <a:latin typeface="Arial"/>
                <a:ea typeface="Microsoft YaHei"/>
                <a:cs typeface="Arial"/>
              </a:rPr>
              <a:t>EMOTION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" y="1885950"/>
            <a:ext cx="174679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solidFill>
                  <a:srgbClr val="E94560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 rot="-180000">
            <a:off x="2026920" y="2941320"/>
            <a:ext cx="427767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情感极大化</a:t>
            </a:r>
          </a:p>
        </p:txBody>
      </p:sp>
      <p:sp>
        <p:nvSpPr>
          <p:cNvPr id="11" name="TextBox 11"/>
          <p:cNvSpPr txBox="1"/>
          <p:nvPr/>
        </p:nvSpPr>
        <p:spPr>
          <a:xfrm rot="120000">
            <a:off x="2268855" y="395001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94560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Emotional Maximalism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2665" y="4458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D93D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动感诗学流派</a:t>
            </a:r>
          </a:p>
        </p:txBody>
      </p:sp>
      <p:sp>
        <p:nvSpPr>
          <p:cNvPr id="13" name="Line 13"/>
          <p:cNvSpPr/>
          <p:nvPr/>
        </p:nvSpPr>
        <p:spPr>
          <a:xfrm>
            <a:off x="1905000" y="4667250"/>
            <a:ext cx="3810000" cy="95250"/>
          </a:xfrm>
          <a:custGeom>
            <a:avLst/>
            <a:gdLst/>
            <a:ahLst/>
            <a:cxnLst/>
            <a:rect l="l" t="t" r="r" b="b"/>
            <a:pathLst>
              <a:path w="3810000" h="95250">
                <a:moveTo>
                  <a:pt x="0" y="9525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E94560">
                <a:alpha val="3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095500" y="4810125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0" y="47625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533483">
                <a:alpha val="2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141FCBB5-23D4-7AD2-DE1D-703C8A71B555}"/>
              </a:ext>
            </a:extLst>
          </p:cNvPr>
          <p:cNvSpPr txBox="1"/>
          <p:nvPr/>
        </p:nvSpPr>
        <p:spPr>
          <a:xfrm>
            <a:off x="9176814" y="2137635"/>
            <a:ext cx="2115964" cy="13849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Sag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1D8A685C-B19E-47AC-AE46-9BE1898CECF8}"/>
              </a:ext>
            </a:extLst>
          </p:cNvPr>
          <p:cNvSpPr txBox="1"/>
          <p:nvPr/>
        </p:nvSpPr>
        <p:spPr>
          <a:xfrm>
            <a:off x="7189090" y="3548286"/>
            <a:ext cx="4103688" cy="13849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0" b="1" dirty="0">
                <a:solidFill>
                  <a:srgbClr val="FFE66D"/>
                </a:solidFill>
                <a:latin typeface="Arial"/>
                <a:ea typeface="Microsoft YaHei"/>
                <a:cs typeface="Arial"/>
              </a:rPr>
              <a:t>meister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 rot="-900000">
            <a:off x="3103102" y="2981325"/>
            <a:ext cx="5985796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E94560">
                    <a:alpha val="7000"/>
                  </a:srgbClr>
                </a:solidFill>
                <a:latin typeface="Arial"/>
                <a:ea typeface="Microsoft YaHei"/>
                <a:cs typeface="Arial"/>
              </a:rPr>
              <a:t>FEEL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0570" y="379095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94560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06 · 动感诗学流派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900" y="723900"/>
            <a:ext cx="258351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Sagmeister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1266825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94560"/>
                </a:solidFill>
                <a:latin typeface="Arial"/>
                <a:ea typeface="Microsoft YaHei"/>
                <a:cs typeface="Arial"/>
              </a:rPr>
              <a:t>情感极大化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16002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E94560"/>
            </a:solidFill>
          </a:ln>
        </p:spPr>
      </p:sp>
      <p:sp>
        <p:nvSpPr>
          <p:cNvPr id="8" name="Polygon 8"/>
          <p:cNvSpPr/>
          <p:nvPr/>
        </p:nvSpPr>
        <p:spPr>
          <a:xfrm>
            <a:off x="5715000" y="476250"/>
            <a:ext cx="2857500" cy="1428750"/>
          </a:xfrm>
          <a:custGeom>
            <a:avLst/>
            <a:gdLst/>
            <a:ahLst/>
            <a:cxnLst/>
            <a:rect l="l" t="t" r="r" b="b"/>
            <a:pathLst>
              <a:path w="2857500" h="1428750">
                <a:moveTo>
                  <a:pt x="952500" y="0"/>
                </a:moveTo>
                <a:lnTo>
                  <a:pt x="2857500" y="1428750"/>
                </a:lnTo>
                <a:lnTo>
                  <a:pt x="0" y="1428750"/>
                </a:lnTo>
                <a:close/>
              </a:path>
            </a:pathLst>
          </a:custGeom>
          <a:solidFill>
            <a:srgbClr val="E94560">
              <a:alpha val="15000"/>
            </a:srgbClr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8096250" y="762000"/>
            <a:ext cx="2381250" cy="1619250"/>
          </a:xfrm>
          <a:custGeom>
            <a:avLst/>
            <a:gdLst/>
            <a:ahLst/>
            <a:cxnLst/>
            <a:rect l="l" t="t" r="r" b="b"/>
            <a:pathLst>
              <a:path w="2381250" h="1619250">
                <a:moveTo>
                  <a:pt x="666750" y="0"/>
                </a:moveTo>
                <a:lnTo>
                  <a:pt x="2381250" y="1619250"/>
                </a:lnTo>
                <a:lnTo>
                  <a:pt x="0" y="952500"/>
                </a:lnTo>
                <a:close/>
              </a:path>
            </a:pathLst>
          </a:custGeom>
          <a:solidFill>
            <a:srgbClr val="E94560">
              <a:alpha val="10000"/>
            </a:srgbClr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0001250" y="571500"/>
            <a:ext cx="1428750" cy="1809750"/>
          </a:xfrm>
          <a:custGeom>
            <a:avLst/>
            <a:gdLst/>
            <a:ahLst/>
            <a:cxnLst/>
            <a:rect l="l" t="t" r="r" b="b"/>
            <a:pathLst>
              <a:path w="1428750" h="1809750">
                <a:moveTo>
                  <a:pt x="0" y="571500"/>
                </a:moveTo>
                <a:lnTo>
                  <a:pt x="1428750" y="0"/>
                </a:lnTo>
                <a:lnTo>
                  <a:pt x="1428750" y="1809750"/>
                </a:lnTo>
                <a:close/>
              </a:path>
            </a:pathLst>
          </a:custGeom>
          <a:solidFill>
            <a:srgbClr val="533483">
              <a:alpha val="20000"/>
            </a:srgbClr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6667500" y="47625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0" y="0"/>
                </a:moveTo>
                <a:lnTo>
                  <a:pt x="2095500" y="285750"/>
                </a:lnTo>
              </a:path>
            </a:pathLst>
          </a:custGeom>
          <a:noFill/>
          <a:ln w="7620">
            <a:solidFill>
              <a:srgbClr val="E94560">
                <a:alpha val="4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114300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762000"/>
                </a:moveTo>
                <a:lnTo>
                  <a:pt x="1428750" y="0"/>
                </a:lnTo>
              </a:path>
            </a:pathLst>
          </a:custGeom>
          <a:noFill/>
          <a:ln w="7620">
            <a:solidFill>
              <a:srgbClr val="533483">
                <a:alpha val="30000"/>
              </a:srgbClr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62000" y="1905000"/>
            <a:ext cx="1524000" cy="762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762000" y="2019300"/>
            <a:ext cx="1143000" cy="76200"/>
          </a:xfrm>
          <a:prstGeom prst="rect">
            <a:avLst/>
          </a:prstGeom>
          <a:solidFill>
            <a:srgbClr val="533483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" y="2133600"/>
            <a:ext cx="762000" cy="762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 rot="480000">
            <a:off x="3371850" y="2276475"/>
            <a:ext cx="2012037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E94560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BREAK</a:t>
            </a:r>
          </a:p>
        </p:txBody>
      </p:sp>
      <p:sp>
        <p:nvSpPr>
          <p:cNvPr id="17" name="TextBox 17"/>
          <p:cNvSpPr txBox="1"/>
          <p:nvPr/>
        </p:nvSpPr>
        <p:spPr>
          <a:xfrm rot="-300000">
            <a:off x="3192780" y="2945130"/>
            <a:ext cx="16096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533483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RULES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36885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D93D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952875"/>
            <a:ext cx="47625" cy="1905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91540" y="3982402"/>
            <a:ext cx="30630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旋转文字 transform="rotate()" 制造张力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4210050"/>
            <a:ext cx="47625" cy="190500"/>
          </a:xfrm>
          <a:prstGeom prst="rect">
            <a:avLst/>
          </a:prstGeom>
          <a:solidFill>
            <a:srgbClr val="53348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91540" y="42395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撕裂三角形碎片化构图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4467225"/>
            <a:ext cx="47625" cy="1905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91540" y="4496752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互补色碰撞：玫红×深紫×金黄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724400"/>
            <a:ext cx="47625" cy="1905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1540" y="47539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故意打破对齐——错位即情绪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31368" y="3133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D93D"/>
                </a:solidFill>
                <a:latin typeface="Arial"/>
                <a:ea typeface="Microsoft YaHei"/>
                <a:cs typeface="Arial"/>
              </a:rPr>
              <a:t>情感温度</a:t>
            </a:r>
          </a:p>
        </p:txBody>
      </p:sp>
      <p:sp>
        <p:nvSpPr>
          <p:cNvPr id="28" name="Freeform 28"/>
          <p:cNvSpPr/>
          <p:nvPr/>
        </p:nvSpPr>
        <p:spPr>
          <a:xfrm>
            <a:off x="7143750" y="3381375"/>
            <a:ext cx="3810000" cy="228600"/>
          </a:xfrm>
          <a:custGeom>
            <a:avLst/>
            <a:gdLst/>
            <a:ahLst/>
            <a:cxnLst/>
            <a:rect l="l" t="t" r="r" b="b"/>
            <a:pathLst>
              <a:path w="3810000" h="22860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114300"/>
                </a:lnTo>
                <a:cubicBezTo>
                  <a:pt x="3810000" y="177426"/>
                  <a:pt x="3758826" y="228600"/>
                  <a:pt x="3695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A1A2E"/>
          </a:solidFill>
          <a:ln w="9525">
            <a:solidFill>
              <a:srgbClr val="333333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7143750" y="3381375"/>
            <a:ext cx="3238500" cy="228600"/>
          </a:xfrm>
          <a:custGeom>
            <a:avLst/>
            <a:gdLst/>
            <a:ahLst/>
            <a:cxnLst/>
            <a:rect l="l" t="t" r="r" b="b"/>
            <a:pathLst>
              <a:path w="3238500" h="228600">
                <a:moveTo>
                  <a:pt x="114300" y="0"/>
                </a:moveTo>
                <a:lnTo>
                  <a:pt x="3124200" y="0"/>
                </a:lnTo>
                <a:cubicBezTo>
                  <a:pt x="3187326" y="0"/>
                  <a:pt x="3238500" y="51174"/>
                  <a:pt x="3238500" y="114300"/>
                </a:cubicBezTo>
                <a:lnTo>
                  <a:pt x="3238500" y="114300"/>
                </a:lnTo>
                <a:cubicBezTo>
                  <a:pt x="3238500" y="177426"/>
                  <a:pt x="3187326" y="228600"/>
                  <a:pt x="3124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94560">
              <a:alpha val="7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228522" y="34542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85%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34225" y="37099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冷静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34650" y="37099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E94560"/>
                </a:solidFill>
                <a:latin typeface="Arial"/>
                <a:ea typeface="Microsoft YaHei"/>
                <a:cs typeface="Arial"/>
              </a:rPr>
              <a:t>疯狂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1368" y="40857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D93D"/>
                </a:solidFill>
                <a:latin typeface="Arial"/>
                <a:ea typeface="Microsoft YaHei"/>
                <a:cs typeface="Arial"/>
              </a:rPr>
              <a:t>最佳弹药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43750" y="4333875"/>
            <a:ext cx="1238250" cy="342900"/>
          </a:xfrm>
          <a:custGeom>
            <a:avLst/>
            <a:gdLst/>
            <a:ahLst/>
            <a:cxnLst/>
            <a:rect l="l" t="t" r="r" b="b"/>
            <a:pathLst>
              <a:path w="1238250" h="3429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304800"/>
                </a:lnTo>
                <a:cubicBezTo>
                  <a:pt x="1238250" y="325842"/>
                  <a:pt x="1221192" y="342900"/>
                  <a:pt x="12001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94560">
              <a:alpha val="1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88555" y="44557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94560"/>
                </a:solidFill>
                <a:latin typeface="Arial"/>
                <a:ea typeface="Microsoft YaHei"/>
                <a:cs typeface="Arial"/>
              </a:rPr>
              <a:t>创意提案</a:t>
            </a:r>
          </a:p>
        </p:txBody>
      </p:sp>
      <p:sp>
        <p:nvSpPr>
          <p:cNvPr id="36" name="Freeform 36"/>
          <p:cNvSpPr/>
          <p:nvPr/>
        </p:nvSpPr>
        <p:spPr>
          <a:xfrm>
            <a:off x="8477250" y="4333875"/>
            <a:ext cx="1238250" cy="342900"/>
          </a:xfrm>
          <a:custGeom>
            <a:avLst/>
            <a:gdLst/>
            <a:ahLst/>
            <a:cxnLst/>
            <a:rect l="l" t="t" r="r" b="b"/>
            <a:pathLst>
              <a:path w="1238250" h="3429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304800"/>
                </a:lnTo>
                <a:cubicBezTo>
                  <a:pt x="1238250" y="325842"/>
                  <a:pt x="1221192" y="342900"/>
                  <a:pt x="12001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533483">
              <a:alpha val="1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22055" y="44557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33483"/>
                </a:solidFill>
                <a:latin typeface="Arial"/>
                <a:ea typeface="Microsoft YaHei"/>
                <a:cs typeface="Arial"/>
              </a:rPr>
              <a:t>品牌发布</a:t>
            </a:r>
          </a:p>
        </p:txBody>
      </p:sp>
      <p:sp>
        <p:nvSpPr>
          <p:cNvPr id="38" name="Freeform 38"/>
          <p:cNvSpPr/>
          <p:nvPr/>
        </p:nvSpPr>
        <p:spPr>
          <a:xfrm>
            <a:off x="9810750" y="4333875"/>
            <a:ext cx="1238250" cy="342900"/>
          </a:xfrm>
          <a:custGeom>
            <a:avLst/>
            <a:gdLst/>
            <a:ahLst/>
            <a:cxnLst/>
            <a:rect l="l" t="t" r="r" b="b"/>
            <a:pathLst>
              <a:path w="1238250" h="3429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304800"/>
                </a:lnTo>
                <a:cubicBezTo>
                  <a:pt x="1238250" y="325842"/>
                  <a:pt x="1221192" y="342900"/>
                  <a:pt x="12001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D93D">
              <a:alpha val="15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089832" y="44557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D93D"/>
                </a:solidFill>
                <a:latin typeface="Arial"/>
                <a:ea typeface="Microsoft YaHei"/>
                <a:cs typeface="Arial"/>
              </a:rPr>
              <a:t>颠覆性观点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5715000"/>
            <a:ext cx="266700" cy="266700"/>
          </a:xfrm>
          <a:prstGeom prst="rect">
            <a:avLst/>
          </a:prstGeom>
          <a:solidFill>
            <a:srgbClr val="1A1A2E"/>
          </a:solidFill>
          <a:ln w="9525">
            <a:solidFill>
              <a:srgbClr val="333333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1104900" y="5715000"/>
            <a:ext cx="266700" cy="2667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1447800" y="5715000"/>
            <a:ext cx="266700" cy="266700"/>
          </a:xfrm>
          <a:prstGeom prst="rect">
            <a:avLst/>
          </a:prstGeom>
          <a:solidFill>
            <a:srgbClr val="533483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1790700" y="5715000"/>
            <a:ext cx="266700" cy="2667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2133600" y="5715000"/>
            <a:ext cx="2667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09010" y="57950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★★★☆☆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70070" y="58273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创意场景杀手锏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98321" y="29346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735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18069" y="3356610"/>
            <a:ext cx="15558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Build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79646" y="4235768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A1A1A">
                    <a:alpha val="35000"/>
                  </a:srgbClr>
                </a:solidFill>
                <a:latin typeface="Arial"/>
                <a:ea typeface="Microsoft YaHei"/>
                <a:cs typeface="Arial"/>
              </a:rPr>
              <a:t>极端极简 · 极简主义流派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06842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DDDDDD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Ellipse 3">
            <a:extLst>
              <a:ext uri="{FF2B5EF4-FFF2-40B4-BE49-F238E27FC236}">
                <a16:creationId xmlns:a16="http://schemas.microsoft.com/office/drawing/2014/main" id="{57981650-4AD7-042D-64BE-18E53368E6E8}"/>
              </a:ext>
            </a:extLst>
          </p:cNvPr>
          <p:cNvSpPr/>
          <p:nvPr/>
        </p:nvSpPr>
        <p:spPr>
          <a:xfrm>
            <a:off x="2476500" y="1524000"/>
            <a:ext cx="762000" cy="762000"/>
          </a:xfrm>
          <a:prstGeom prst="ellipse">
            <a:avLst/>
          </a:prstGeom>
          <a:noFill/>
          <a:ln w="4762">
            <a:solidFill>
              <a:srgbClr val="EEEEEE"/>
            </a:solidFill>
          </a:ln>
        </p:spPr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6EE7D17E-585F-0EA2-EF46-B87B5C353FCE}"/>
              </a:ext>
            </a:extLst>
          </p:cNvPr>
          <p:cNvSpPr/>
          <p:nvPr/>
        </p:nvSpPr>
        <p:spPr>
          <a:xfrm>
            <a:off x="2571750" y="16192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57150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3268820-DCF8-917A-F56B-7FB0F16FCC40}"/>
              </a:ext>
            </a:extLst>
          </p:cNvPr>
          <p:cNvSpPr/>
          <p:nvPr/>
        </p:nvSpPr>
        <p:spPr>
          <a:xfrm>
            <a:off x="4762500" y="17145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76200" y="0"/>
                </a:moveTo>
                <a:lnTo>
                  <a:pt x="685800" y="0"/>
                </a:lnTo>
                <a:cubicBezTo>
                  <a:pt x="727884" y="0"/>
                  <a:pt x="762000" y="34116"/>
                  <a:pt x="762000" y="76200"/>
                </a:cubicBezTo>
                <a:lnTo>
                  <a:pt x="762000" y="304800"/>
                </a:lnTo>
                <a:cubicBezTo>
                  <a:pt x="762000" y="346884"/>
                  <a:pt x="727884" y="381000"/>
                  <a:pt x="685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4762">
            <a:solidFill>
              <a:srgbClr val="EEEEEE"/>
            </a:solidFill>
          </a:ln>
        </p:spPr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9044600-5313-7295-F707-C6D51ED48747}"/>
              </a:ext>
            </a:extLst>
          </p:cNvPr>
          <p:cNvSpPr/>
          <p:nvPr/>
        </p:nvSpPr>
        <p:spPr>
          <a:xfrm>
            <a:off x="4667250" y="1666875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47625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  <p:sp>
        <p:nvSpPr>
          <p:cNvPr id="11" name="Polygon 7">
            <a:extLst>
              <a:ext uri="{FF2B5EF4-FFF2-40B4-BE49-F238E27FC236}">
                <a16:creationId xmlns:a16="http://schemas.microsoft.com/office/drawing/2014/main" id="{4FC75219-6850-A299-92BF-2C3836874342}"/>
              </a:ext>
            </a:extLst>
          </p:cNvPr>
          <p:cNvSpPr/>
          <p:nvPr/>
        </p:nvSpPr>
        <p:spPr>
          <a:xfrm>
            <a:off x="6858000" y="1714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285750" y="0"/>
                </a:moveTo>
                <a:lnTo>
                  <a:pt x="571500" y="381000"/>
                </a:lnTo>
                <a:lnTo>
                  <a:pt x="0" y="381000"/>
                </a:lnTo>
                <a:close/>
              </a:path>
            </a:pathLst>
          </a:custGeom>
          <a:noFill/>
          <a:ln w="4762">
            <a:solidFill>
              <a:srgbClr val="EEEEEE"/>
            </a:solidFill>
          </a:ln>
        </p:spPr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9E8C773F-ED9F-4273-7DD1-EBE58E87FB0D}"/>
              </a:ext>
            </a:extLst>
          </p:cNvPr>
          <p:cNvSpPr/>
          <p:nvPr/>
        </p:nvSpPr>
        <p:spPr>
          <a:xfrm>
            <a:off x="6762750" y="1666875"/>
            <a:ext cx="762000" cy="476250"/>
          </a:xfrm>
          <a:custGeom>
            <a:avLst/>
            <a:gdLst/>
            <a:ahLst/>
            <a:cxnLst/>
            <a:rect l="l" t="t" r="r" b="b"/>
            <a:pathLst>
              <a:path w="762000" h="476250">
                <a:moveTo>
                  <a:pt x="0" y="0"/>
                </a:moveTo>
                <a:lnTo>
                  <a:pt x="762000" y="47625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17903EB-F3AA-2AFC-626D-A34C49D86FE5}"/>
              </a:ext>
            </a:extLst>
          </p:cNvPr>
          <p:cNvSpPr/>
          <p:nvPr/>
        </p:nvSpPr>
        <p:spPr>
          <a:xfrm>
            <a:off x="8763000" y="1714500"/>
            <a:ext cx="571500" cy="571500"/>
          </a:xfrm>
          <a:prstGeom prst="rect">
            <a:avLst/>
          </a:prstGeom>
          <a:noFill/>
          <a:ln w="4762">
            <a:solidFill>
              <a:srgbClr val="EEEEEE"/>
            </a:solidFill>
          </a:ln>
        </p:spPr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CAC5D40C-3AEC-93E2-45F1-3B04CD5EC570}"/>
              </a:ext>
            </a:extLst>
          </p:cNvPr>
          <p:cNvSpPr/>
          <p:nvPr/>
        </p:nvSpPr>
        <p:spPr>
          <a:xfrm>
            <a:off x="8667750" y="1666875"/>
            <a:ext cx="762000" cy="666750"/>
          </a:xfrm>
          <a:custGeom>
            <a:avLst/>
            <a:gdLst/>
            <a:ahLst/>
            <a:cxnLst/>
            <a:rect l="l" t="t" r="r" b="b"/>
            <a:pathLst>
              <a:path w="762000" h="666750">
                <a:moveTo>
                  <a:pt x="0" y="0"/>
                </a:moveTo>
                <a:lnTo>
                  <a:pt x="762000" y="666750"/>
                </a:lnTo>
              </a:path>
            </a:pathLst>
          </a:custGeom>
          <a:noFill/>
          <a:ln w="9525">
            <a:solidFill>
              <a:srgbClr val="DDDDDD"/>
            </a:solidFill>
          </a:ln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32522" y="672941"/>
            <a:ext cx="10150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7355"/>
                </a:solidFill>
                <a:latin typeface="Arial"/>
                <a:ea typeface="Microsoft YaHei"/>
                <a:cs typeface="Arial"/>
              </a:rPr>
              <a:t>07 · 极简主义流派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80" y="1325880"/>
            <a:ext cx="133359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Build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2045" y="1917382"/>
            <a:ext cx="100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A1A1A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极端极简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6330" y="272605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更少，但更好。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3204210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Less, but better. — Dieter Rams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8712" y="3974306"/>
            <a:ext cx="3117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减法设计 · 视觉沉默 · ≤3 元素 · 65% 留白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9665" y="4553902"/>
            <a:ext cx="762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留白 ≥ 65%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48015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无装饰图标、无边框、无背景图案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50492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仅字号和字重建立层次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569690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主题演讲 · 高管总结 · 奢侈品牌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59826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3570" y="5998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低密度内容时优雅；不适合数据密集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06842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DDDDDD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D6E63C4-9DD8-BCB3-B4E6-F303C4C45592}"/>
              </a:ext>
            </a:extLst>
          </p:cNvPr>
          <p:cNvGrpSpPr/>
          <p:nvPr/>
        </p:nvGrpSpPr>
        <p:grpSpPr>
          <a:xfrm>
            <a:off x="6096000" y="2726055"/>
            <a:ext cx="4584382" cy="3259931"/>
            <a:chOff x="4750118" y="762000"/>
            <a:chExt cx="4584382" cy="3259931"/>
          </a:xfrm>
        </p:grpSpPr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E6B8FC41-B442-BB74-8378-B9733042BAFB}"/>
                </a:ext>
              </a:extLst>
            </p:cNvPr>
            <p:cNvSpPr/>
            <p:nvPr/>
          </p:nvSpPr>
          <p:spPr>
            <a:xfrm>
              <a:off x="4762500" y="762000"/>
              <a:ext cx="1714500" cy="1143000"/>
            </a:xfrm>
            <a:prstGeom prst="rect">
              <a:avLst/>
            </a:prstGeom>
            <a:noFill/>
            <a:ln w="4762">
              <a:solidFill>
                <a:srgbClr val="DDDDDD"/>
              </a:solidFill>
            </a:ln>
          </p:spPr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D977EC86-4B21-8485-BD96-8CA62F01999F}"/>
                </a:ext>
              </a:extLst>
            </p:cNvPr>
            <p:cNvSpPr/>
            <p:nvPr/>
          </p:nvSpPr>
          <p:spPr>
            <a:xfrm>
              <a:off x="4857750" y="857250"/>
              <a:ext cx="571500" cy="9525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A0586359-E3C0-4BF2-8F25-D5D550839FE2}"/>
                </a:ext>
              </a:extLst>
            </p:cNvPr>
            <p:cNvSpPr/>
            <p:nvPr/>
          </p:nvSpPr>
          <p:spPr>
            <a:xfrm>
              <a:off x="4857750" y="1009650"/>
              <a:ext cx="1524000" cy="5715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B7325365-033A-A057-244D-D256B46B1524}"/>
                </a:ext>
              </a:extLst>
            </p:cNvPr>
            <p:cNvSpPr/>
            <p:nvPr/>
          </p:nvSpPr>
          <p:spPr>
            <a:xfrm>
              <a:off x="4857750" y="1104900"/>
              <a:ext cx="1524000" cy="5715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FCCA7C3C-35EE-1823-7D42-EFD6E3203677}"/>
                </a:ext>
              </a:extLst>
            </p:cNvPr>
            <p:cNvSpPr/>
            <p:nvPr/>
          </p:nvSpPr>
          <p:spPr>
            <a:xfrm>
              <a:off x="4857750" y="1200150"/>
              <a:ext cx="952500" cy="5715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</p:sp>
        <p:sp>
          <p:nvSpPr>
            <p:cNvPr id="22" name="Ellipse 11">
              <a:extLst>
                <a:ext uri="{FF2B5EF4-FFF2-40B4-BE49-F238E27FC236}">
                  <a16:creationId xmlns:a16="http://schemas.microsoft.com/office/drawing/2014/main" id="{F462BFBB-3AEC-1386-AE6A-8FE81AD1282A}"/>
                </a:ext>
              </a:extLst>
            </p:cNvPr>
            <p:cNvSpPr/>
            <p:nvPr/>
          </p:nvSpPr>
          <p:spPr>
            <a:xfrm>
              <a:off x="6334125" y="1333500"/>
              <a:ext cx="285750" cy="28575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1C987532-7DB4-5B92-A69D-342ACD44A2DE}"/>
                </a:ext>
              </a:extLst>
            </p:cNvPr>
            <p:cNvSpPr/>
            <p:nvPr/>
          </p:nvSpPr>
          <p:spPr>
            <a:xfrm>
              <a:off x="4857750" y="1428750"/>
              <a:ext cx="476250" cy="190500"/>
            </a:xfrm>
            <a:custGeom>
              <a:avLst/>
              <a:gdLst/>
              <a:ahLst/>
              <a:cxnLst/>
              <a:rect l="l" t="t" r="r" b="b"/>
              <a:pathLst>
                <a:path w="476250" h="190500">
                  <a:moveTo>
                    <a:pt x="28575" y="0"/>
                  </a:moveTo>
                  <a:lnTo>
                    <a:pt x="447675" y="0"/>
                  </a:lnTo>
                  <a:cubicBezTo>
                    <a:pt x="463457" y="0"/>
                    <a:pt x="476250" y="12793"/>
                    <a:pt x="476250" y="28575"/>
                  </a:cubicBezTo>
                  <a:lnTo>
                    <a:pt x="476250" y="161925"/>
                  </a:lnTo>
                  <a:cubicBezTo>
                    <a:pt x="476250" y="177707"/>
                    <a:pt x="463457" y="190500"/>
                    <a:pt x="4476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0C6768A2-C9C8-8209-AFD1-42BE934B5B52}"/>
                </a:ext>
              </a:extLst>
            </p:cNvPr>
            <p:cNvSpPr/>
            <p:nvPr/>
          </p:nvSpPr>
          <p:spPr>
            <a:xfrm>
              <a:off x="5429250" y="1428750"/>
              <a:ext cx="476250" cy="190500"/>
            </a:xfrm>
            <a:custGeom>
              <a:avLst/>
              <a:gdLst/>
              <a:ahLst/>
              <a:cxnLst/>
              <a:rect l="l" t="t" r="r" b="b"/>
              <a:pathLst>
                <a:path w="476250" h="190500">
                  <a:moveTo>
                    <a:pt x="28575" y="0"/>
                  </a:moveTo>
                  <a:lnTo>
                    <a:pt x="447675" y="0"/>
                  </a:lnTo>
                  <a:cubicBezTo>
                    <a:pt x="463457" y="0"/>
                    <a:pt x="476250" y="12793"/>
                    <a:pt x="476250" y="28575"/>
                  </a:cubicBezTo>
                  <a:lnTo>
                    <a:pt x="476250" y="161925"/>
                  </a:lnTo>
                  <a:cubicBezTo>
                    <a:pt x="476250" y="177707"/>
                    <a:pt x="463457" y="190500"/>
                    <a:pt x="4476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69B3844F-2953-4F6E-7979-97CC43099F89}"/>
                </a:ext>
              </a:extLst>
            </p:cNvPr>
            <p:cNvSpPr/>
            <p:nvPr/>
          </p:nvSpPr>
          <p:spPr>
            <a:xfrm>
              <a:off x="4762500" y="1333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4762">
              <a:solidFill>
                <a:srgbClr val="EEEEEE"/>
              </a:solidFill>
            </a:ln>
          </p:spPr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BBBD0331-CA5B-B6AB-5F95-6B3DF4F0AFFF}"/>
                </a:ext>
              </a:extLst>
            </p:cNvPr>
            <p:cNvSpPr txBox="1"/>
            <p:nvPr/>
          </p:nvSpPr>
          <p:spPr>
            <a:xfrm>
              <a:off x="5172075" y="1966912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Before: 12个元素</a:t>
              </a: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38209FBE-33B6-24AD-021E-17C68EA1D5CC}"/>
                </a:ext>
              </a:extLst>
            </p:cNvPr>
            <p:cNvSpPr/>
            <p:nvPr/>
          </p:nvSpPr>
          <p:spPr>
            <a:xfrm>
              <a:off x="6762750" y="1333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Polygon 17">
              <a:extLst>
                <a:ext uri="{FF2B5EF4-FFF2-40B4-BE49-F238E27FC236}">
                  <a16:creationId xmlns:a16="http://schemas.microsoft.com/office/drawing/2014/main" id="{C261FD5A-0512-EAC4-6AF1-D0A061DF6B2C}"/>
                </a:ext>
              </a:extLst>
            </p:cNvPr>
            <p:cNvSpPr/>
            <p:nvPr/>
          </p:nvSpPr>
          <p:spPr>
            <a:xfrm>
              <a:off x="7334250" y="1285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0"/>
                  </a:moveTo>
                  <a:lnTo>
                    <a:pt x="142875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</p:sp>
        <p:sp>
          <p:nvSpPr>
            <p:cNvPr id="29" name="Rectangle 18">
              <a:extLst>
                <a:ext uri="{FF2B5EF4-FFF2-40B4-BE49-F238E27FC236}">
                  <a16:creationId xmlns:a16="http://schemas.microsoft.com/office/drawing/2014/main" id="{EEB35999-E534-3D7A-10D6-2A054018A9C2}"/>
                </a:ext>
              </a:extLst>
            </p:cNvPr>
            <p:cNvSpPr/>
            <p:nvPr/>
          </p:nvSpPr>
          <p:spPr>
            <a:xfrm>
              <a:off x="7620000" y="762000"/>
              <a:ext cx="1714500" cy="1143000"/>
            </a:xfrm>
            <a:prstGeom prst="rect">
              <a:avLst/>
            </a:prstGeom>
            <a:noFill/>
            <a:ln w="4762">
              <a:solidFill>
                <a:srgbClr val="DDDDDD"/>
              </a:solidFill>
            </a:ln>
          </p:spPr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0B11DCA2-D42A-92D3-BAF8-DB18D5D76303}"/>
                </a:ext>
              </a:extLst>
            </p:cNvPr>
            <p:cNvSpPr txBox="1"/>
            <p:nvPr/>
          </p:nvSpPr>
          <p:spPr>
            <a:xfrm>
              <a:off x="8362019" y="1202055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.</a:t>
              </a:r>
            </a:p>
          </p:txBody>
        </p:sp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2995EF0B-A027-4E9E-C5E5-0C9BBB8BEEE7}"/>
                </a:ext>
              </a:extLst>
            </p:cNvPr>
            <p:cNvSpPr txBox="1"/>
            <p:nvPr/>
          </p:nvSpPr>
          <p:spPr>
            <a:xfrm>
              <a:off x="8089821" y="1966912"/>
              <a:ext cx="7748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After: 1个元素</a:t>
              </a:r>
            </a:p>
          </p:txBody>
        </p:sp>
        <p:sp>
          <p:nvSpPr>
            <p:cNvPr id="32" name="TextBox 21">
              <a:extLst>
                <a:ext uri="{FF2B5EF4-FFF2-40B4-BE49-F238E27FC236}">
                  <a16:creationId xmlns:a16="http://schemas.microsoft.com/office/drawing/2014/main" id="{63DD6EBF-E235-4630-29DA-6488E2D5D4D5}"/>
                </a:ext>
              </a:extLst>
            </p:cNvPr>
            <p:cNvSpPr txBox="1"/>
            <p:nvPr/>
          </p:nvSpPr>
          <p:spPr>
            <a:xfrm>
              <a:off x="4750118" y="25617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元素数量对比</a:t>
              </a: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5BAEA868-5A75-7CD2-3ADF-4F5712C64072}"/>
                </a:ext>
              </a:extLst>
            </p:cNvPr>
            <p:cNvSpPr txBox="1"/>
            <p:nvPr/>
          </p:nvSpPr>
          <p:spPr>
            <a:xfrm>
              <a:off x="4752022" y="2863691"/>
              <a:ext cx="6776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Sagmeister</a:t>
              </a: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29AFF454-8DD0-CA71-2AB2-77093BE29338}"/>
                </a:ext>
              </a:extLst>
            </p:cNvPr>
            <p:cNvSpPr/>
            <p:nvPr/>
          </p:nvSpPr>
          <p:spPr>
            <a:xfrm>
              <a:off x="5810250" y="2838450"/>
              <a:ext cx="2667000" cy="133350"/>
            </a:xfrm>
            <a:prstGeom prst="rect">
              <a:avLst/>
            </a:prstGeom>
            <a:solidFill>
              <a:srgbClr val="111111">
                <a:alpha val="8000"/>
              </a:srgbClr>
            </a:solidFill>
            <a:ln>
              <a:noFill/>
            </a:ln>
          </p:spPr>
        </p:sp>
        <p:sp>
          <p:nvSpPr>
            <p:cNvPr id="35" name="TextBox 24">
              <a:extLst>
                <a:ext uri="{FF2B5EF4-FFF2-40B4-BE49-F238E27FC236}">
                  <a16:creationId xmlns:a16="http://schemas.microsoft.com/office/drawing/2014/main" id="{20236254-34E5-330F-58D3-827951F9A1FE}"/>
                </a:ext>
              </a:extLst>
            </p:cNvPr>
            <p:cNvSpPr txBox="1"/>
            <p:nvPr/>
          </p:nvSpPr>
          <p:spPr>
            <a:xfrm>
              <a:off x="8543925" y="2871788"/>
              <a:ext cx="1997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35+</a:t>
              </a:r>
            </a:p>
          </p:txBody>
        </p:sp>
        <p:sp>
          <p:nvSpPr>
            <p:cNvPr id="36" name="TextBox 25">
              <a:extLst>
                <a:ext uri="{FF2B5EF4-FFF2-40B4-BE49-F238E27FC236}">
                  <a16:creationId xmlns:a16="http://schemas.microsoft.com/office/drawing/2014/main" id="{BE0892B4-A01C-AEBE-4A7A-220CB752BED7}"/>
                </a:ext>
              </a:extLst>
            </p:cNvPr>
            <p:cNvSpPr txBox="1"/>
            <p:nvPr/>
          </p:nvSpPr>
          <p:spPr>
            <a:xfrm>
              <a:off x="4752022" y="3111341"/>
              <a:ext cx="6414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Pentagram</a:t>
              </a:r>
            </a:p>
          </p:txBody>
        </p:sp>
        <p:sp>
          <p:nvSpPr>
            <p:cNvPr id="37" name="Rectangle 26">
              <a:extLst>
                <a:ext uri="{FF2B5EF4-FFF2-40B4-BE49-F238E27FC236}">
                  <a16:creationId xmlns:a16="http://schemas.microsoft.com/office/drawing/2014/main" id="{821B4B02-8572-E6F0-57FF-E5FA1958202A}"/>
                </a:ext>
              </a:extLst>
            </p:cNvPr>
            <p:cNvSpPr/>
            <p:nvPr/>
          </p:nvSpPr>
          <p:spPr>
            <a:xfrm>
              <a:off x="5810250" y="3086100"/>
              <a:ext cx="1905000" cy="133350"/>
            </a:xfrm>
            <a:prstGeom prst="rect">
              <a:avLst/>
            </a:prstGeom>
            <a:solidFill>
              <a:srgbClr val="111111">
                <a:alpha val="8000"/>
              </a:srgbClr>
            </a:solidFill>
            <a:ln>
              <a:noFill/>
            </a:ln>
          </p:spPr>
        </p:sp>
        <p:sp>
          <p:nvSpPr>
            <p:cNvPr id="38" name="TextBox 27">
              <a:extLst>
                <a:ext uri="{FF2B5EF4-FFF2-40B4-BE49-F238E27FC236}">
                  <a16:creationId xmlns:a16="http://schemas.microsoft.com/office/drawing/2014/main" id="{568B906C-6362-9138-255C-5023454D3E77}"/>
                </a:ext>
              </a:extLst>
            </p:cNvPr>
            <p:cNvSpPr txBox="1"/>
            <p:nvPr/>
          </p:nvSpPr>
          <p:spPr>
            <a:xfrm>
              <a:off x="7781925" y="311943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39" name="TextBox 28">
              <a:extLst>
                <a:ext uri="{FF2B5EF4-FFF2-40B4-BE49-F238E27FC236}">
                  <a16:creationId xmlns:a16="http://schemas.microsoft.com/office/drawing/2014/main" id="{1E9BDC90-7812-B185-8342-1C96B3F25269}"/>
                </a:ext>
              </a:extLst>
            </p:cNvPr>
            <p:cNvSpPr txBox="1"/>
            <p:nvPr/>
          </p:nvSpPr>
          <p:spPr>
            <a:xfrm>
              <a:off x="4752022" y="335899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Notion</a:t>
              </a: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DAA9DF71-3A10-EF90-9BFE-6FC97AD0C109}"/>
                </a:ext>
              </a:extLst>
            </p:cNvPr>
            <p:cNvSpPr/>
            <p:nvPr/>
          </p:nvSpPr>
          <p:spPr>
            <a:xfrm>
              <a:off x="5810250" y="3333750"/>
              <a:ext cx="1143000" cy="133350"/>
            </a:xfrm>
            <a:prstGeom prst="rect">
              <a:avLst/>
            </a:prstGeom>
            <a:solidFill>
              <a:srgbClr val="111111">
                <a:alpha val="8000"/>
              </a:srgbClr>
            </a:solidFill>
            <a:ln>
              <a:noFill/>
            </a:ln>
          </p:spPr>
        </p:sp>
        <p:sp>
          <p:nvSpPr>
            <p:cNvPr id="41" name="TextBox 30">
              <a:extLst>
                <a:ext uri="{FF2B5EF4-FFF2-40B4-BE49-F238E27FC236}">
                  <a16:creationId xmlns:a16="http://schemas.microsoft.com/office/drawing/2014/main" id="{14734B63-2B9B-FEC1-827A-AA7DEE2E141A}"/>
                </a:ext>
              </a:extLst>
            </p:cNvPr>
            <p:cNvSpPr txBox="1"/>
            <p:nvPr/>
          </p:nvSpPr>
          <p:spPr>
            <a:xfrm>
              <a:off x="7019925" y="3367088"/>
              <a:ext cx="112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  <p:sp>
          <p:nvSpPr>
            <p:cNvPr id="42" name="TextBox 31">
              <a:extLst>
                <a:ext uri="{FF2B5EF4-FFF2-40B4-BE49-F238E27FC236}">
                  <a16:creationId xmlns:a16="http://schemas.microsoft.com/office/drawing/2014/main" id="{01CD2DB9-6ACA-B200-FFA7-A35F93AC5104}"/>
                </a:ext>
              </a:extLst>
            </p:cNvPr>
            <p:cNvSpPr txBox="1"/>
            <p:nvPr/>
          </p:nvSpPr>
          <p:spPr>
            <a:xfrm>
              <a:off x="4752022" y="360664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88888"/>
                  </a:solidFill>
                  <a:latin typeface="Arial"/>
                  <a:ea typeface="Microsoft YaHei"/>
                  <a:cs typeface="Arial"/>
                </a:rPr>
                <a:t>Kenya Hara</a:t>
              </a: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187C5696-23DA-7BF4-6998-C77A735DC923}"/>
                </a:ext>
              </a:extLst>
            </p:cNvPr>
            <p:cNvSpPr/>
            <p:nvPr/>
          </p:nvSpPr>
          <p:spPr>
            <a:xfrm>
              <a:off x="5810250" y="3581400"/>
              <a:ext cx="457200" cy="133350"/>
            </a:xfrm>
            <a:prstGeom prst="rect">
              <a:avLst/>
            </a:prstGeom>
            <a:solidFill>
              <a:srgbClr val="111111">
                <a:alpha val="8000"/>
              </a:srgbClr>
            </a:solidFill>
            <a:ln>
              <a:noFill/>
            </a:ln>
          </p:spPr>
        </p:sp>
        <p:sp>
          <p:nvSpPr>
            <p:cNvPr id="44" name="TextBox 33">
              <a:extLst>
                <a:ext uri="{FF2B5EF4-FFF2-40B4-BE49-F238E27FC236}">
                  <a16:creationId xmlns:a16="http://schemas.microsoft.com/office/drawing/2014/main" id="{CAA860A4-0C9A-20A5-58DF-9F5790B35B9D}"/>
                </a:ext>
              </a:extLst>
            </p:cNvPr>
            <p:cNvSpPr txBox="1"/>
            <p:nvPr/>
          </p:nvSpPr>
          <p:spPr>
            <a:xfrm>
              <a:off x="6334125" y="3614738"/>
              <a:ext cx="792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AAAAA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5" name="TextBox 34">
              <a:extLst>
                <a:ext uri="{FF2B5EF4-FFF2-40B4-BE49-F238E27FC236}">
                  <a16:creationId xmlns:a16="http://schemas.microsoft.com/office/drawing/2014/main" id="{ED3DE870-757D-4D6F-EBA5-49E47888AFCE}"/>
                </a:ext>
              </a:extLst>
            </p:cNvPr>
            <p:cNvSpPr txBox="1"/>
            <p:nvPr/>
          </p:nvSpPr>
          <p:spPr>
            <a:xfrm>
              <a:off x="4752022" y="3854291"/>
              <a:ext cx="3056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Build</a:t>
              </a:r>
            </a:p>
          </p:txBody>
        </p:sp>
        <p:sp>
          <p:nvSpPr>
            <p:cNvPr id="46" name="Rectangle 35">
              <a:extLst>
                <a:ext uri="{FF2B5EF4-FFF2-40B4-BE49-F238E27FC236}">
                  <a16:creationId xmlns:a16="http://schemas.microsoft.com/office/drawing/2014/main" id="{C608B702-89F7-5CB2-C72F-295B47A43431}"/>
                </a:ext>
              </a:extLst>
            </p:cNvPr>
            <p:cNvSpPr/>
            <p:nvPr/>
          </p:nvSpPr>
          <p:spPr>
            <a:xfrm>
              <a:off x="5810250" y="3829050"/>
              <a:ext cx="228600" cy="13335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7" name="TextBox 36">
              <a:extLst>
                <a:ext uri="{FF2B5EF4-FFF2-40B4-BE49-F238E27FC236}">
                  <a16:creationId xmlns:a16="http://schemas.microsoft.com/office/drawing/2014/main" id="{3686625D-CA98-9F36-9883-6EE598231033}"/>
                </a:ext>
              </a:extLst>
            </p:cNvPr>
            <p:cNvSpPr txBox="1"/>
            <p:nvPr/>
          </p:nvSpPr>
          <p:spPr>
            <a:xfrm>
              <a:off x="6105525" y="3862388"/>
              <a:ext cx="8230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2667000"/>
            <a:ext cx="10668000" cy="9525"/>
          </a:xfrm>
          <a:prstGeom prst="rect">
            <a:avLst/>
          </a:prstGeom>
          <a:solidFill>
            <a:srgbClr val="E0E0E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4191000"/>
            <a:ext cx="10668000" cy="9525"/>
          </a:xfrm>
          <a:prstGeom prst="rect">
            <a:avLst/>
          </a:prstGeom>
          <a:solidFill>
            <a:srgbClr val="E0E0E0">
              <a:alpha val="3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29337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38100" y="0"/>
                </a:moveTo>
                <a:lnTo>
                  <a:pt x="381000" y="0"/>
                </a:lnTo>
                <a:cubicBezTo>
                  <a:pt x="402042" y="0"/>
                  <a:pt x="419100" y="17058"/>
                  <a:pt x="419100" y="38100"/>
                </a:cubicBezTo>
                <a:lnTo>
                  <a:pt x="419100" y="228600"/>
                </a:lnTo>
                <a:cubicBezTo>
                  <a:pt x="419100" y="249642"/>
                  <a:pt x="402042" y="266700"/>
                  <a:pt x="3810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7F6F3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3871" y="30108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7352F"/>
                </a:solidFill>
                <a:latin typeface="Consolas"/>
                <a:ea typeface="Microsoft YaHei"/>
                <a:cs typeface="Consolas"/>
              </a:rPr>
              <a:t>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3970" y="3027045"/>
            <a:ext cx="192318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Notion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46220" y="3027045"/>
            <a:ext cx="294703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37352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功能性极简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" y="371475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09550"/>
                </a:lnTo>
                <a:cubicBezTo>
                  <a:pt x="1333500" y="230592"/>
                  <a:pt x="1316442" y="247650"/>
                  <a:pt x="1295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7F6F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2985" y="37890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7352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极简主义流派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445865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FUNCTIONAL MINIMALISM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0" y="2857500"/>
            <a:ext cx="3429000" cy="1333500"/>
          </a:xfrm>
          <a:custGeom>
            <a:avLst/>
            <a:gdLst/>
            <a:ahLst/>
            <a:cxnLst/>
            <a:rect l="l" t="t" r="r" b="b"/>
            <a:pathLst>
              <a:path w="3429000" h="1333500">
                <a:moveTo>
                  <a:pt x="57150" y="0"/>
                </a:moveTo>
                <a:lnTo>
                  <a:pt x="3371850" y="0"/>
                </a:lnTo>
                <a:cubicBezTo>
                  <a:pt x="3403413" y="0"/>
                  <a:pt x="3429000" y="25587"/>
                  <a:pt x="3429000" y="57150"/>
                </a:cubicBezTo>
                <a:lnTo>
                  <a:pt x="3429000" y="1276350"/>
                </a:lnTo>
                <a:cubicBezTo>
                  <a:pt x="3429000" y="1307913"/>
                  <a:pt x="3403413" y="1333500"/>
                  <a:pt x="3371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AFAF8"/>
          </a:solidFill>
          <a:ln w="9525">
            <a:solidFill>
              <a:srgbClr val="E0E0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799070" y="30079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352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Properties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10500" y="3238500"/>
            <a:ext cx="304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799070" y="33699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Style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32570" y="336994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Functional Minimal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99070" y="3636645"/>
            <a:ext cx="2791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Grid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32570" y="3636645"/>
            <a:ext cx="791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8px baseline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99070" y="3903345"/>
            <a:ext cx="4237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Rating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32570" y="390334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06842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304800"/>
            <a:ext cx="342900" cy="209550"/>
          </a:xfrm>
          <a:custGeom>
            <a:avLst/>
            <a:gdLst/>
            <a:ahLst/>
            <a:cxnLst/>
            <a:rect l="l" t="t" r="r" b="b"/>
            <a:pathLst>
              <a:path w="342900" h="209550">
                <a:moveTo>
                  <a:pt x="38100" y="0"/>
                </a:moveTo>
                <a:lnTo>
                  <a:pt x="304800" y="0"/>
                </a:lnTo>
                <a:cubicBezTo>
                  <a:pt x="325842" y="0"/>
                  <a:pt x="342900" y="17058"/>
                  <a:pt x="342900" y="38100"/>
                </a:cubicBezTo>
                <a:lnTo>
                  <a:pt x="342900" y="171450"/>
                </a:lnTo>
                <a:cubicBezTo>
                  <a:pt x="342900" y="192492"/>
                  <a:pt x="325842" y="209550"/>
                  <a:pt x="3048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7F6F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9725" y="3600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7352F"/>
                </a:solidFill>
                <a:latin typeface="Consolas"/>
                <a:ea typeface="Microsoft YaHei"/>
                <a:cs typeface="Consolas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8720" y="3600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极简主义流派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7710" y="661035"/>
            <a:ext cx="387785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Notion · 功能性极简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04900"/>
            <a:ext cx="952500" cy="19050"/>
          </a:xfrm>
          <a:prstGeom prst="rect">
            <a:avLst/>
          </a:prstGeom>
          <a:solidFill>
            <a:srgbClr val="2EAAD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5808" y="1338739"/>
            <a:ext cx="24717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7352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"恰好很美的井然有序的文档"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" y="1695450"/>
            <a:ext cx="4762500" cy="304800"/>
          </a:xfrm>
          <a:custGeom>
            <a:avLst/>
            <a:gdLst/>
            <a:ahLst/>
            <a:cxnLst/>
            <a:rect l="l" t="t" r="r" b="b"/>
            <a:pathLst>
              <a:path w="4762500" h="304800">
                <a:moveTo>
                  <a:pt x="38100" y="0"/>
                </a:moveTo>
                <a:lnTo>
                  <a:pt x="4724400" y="0"/>
                </a:lnTo>
                <a:cubicBezTo>
                  <a:pt x="4745442" y="0"/>
                  <a:pt x="4762500" y="17058"/>
                  <a:pt x="4762500" y="38100"/>
                </a:cubicBezTo>
                <a:lnTo>
                  <a:pt x="4762500" y="266700"/>
                </a:lnTo>
                <a:cubicBezTo>
                  <a:pt x="4762500" y="287742"/>
                  <a:pt x="4745442" y="304800"/>
                  <a:pt x="47244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7F6F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2018" y="1799749"/>
            <a:ext cx="29297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系统化间距 · 8px 网格 · 文档美学 · 扁平图标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712" y="23550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590800"/>
            <a:ext cx="457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62000" y="2724150"/>
            <a:ext cx="4572000" cy="3048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01065" y="2810828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所有间距基于 8px 基线网格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3067050"/>
            <a:ext cx="4572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1065" y="3153728"/>
            <a:ext cx="26950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浅色边框 stroke="#E0E0E0" 作为分隔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409950"/>
            <a:ext cx="4572000" cy="3048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1065" y="3496628"/>
            <a:ext cx="2089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正文深灰 #37352F 配白色背景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752850"/>
            <a:ext cx="4572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01065" y="3839528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内联代码风格高亮 + 扁平图标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81712" y="23550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2590800"/>
            <a:ext cx="5334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082665" y="2744152"/>
            <a:ext cx="33927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产品文档 · 工程评审 · SaaS 产品 · 内部工具演示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1712" y="3307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0" y="3543300"/>
            <a:ext cx="5334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082665" y="3696652"/>
            <a:ext cx="3293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暖中性色：米白背景 + 暖黑文字 + 微妙蓝色强调</a:t>
            </a:r>
          </a:p>
        </p:txBody>
      </p:sp>
      <p:sp>
        <p:nvSpPr>
          <p:cNvPr id="27" name="Freeform 27"/>
          <p:cNvSpPr/>
          <p:nvPr/>
        </p:nvSpPr>
        <p:spPr>
          <a:xfrm>
            <a:off x="6096000" y="40005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66700"/>
                </a:lnTo>
                <a:cubicBezTo>
                  <a:pt x="1143000" y="287742"/>
                  <a:pt x="1125942" y="304800"/>
                  <a:pt x="1104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172200" y="407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42" y="0"/>
                  <a:pt x="152400" y="17058"/>
                  <a:pt x="152400" y="38100"/>
                </a:cubicBezTo>
                <a:lnTo>
                  <a:pt x="152400" y="114300"/>
                </a:lnTo>
                <a:cubicBezTo>
                  <a:pt x="152400" y="135342"/>
                  <a:pt x="135342" y="152400"/>
                  <a:pt x="114300" y="152400"/>
                </a:cubicBezTo>
                <a:lnTo>
                  <a:pt x="38100" y="152400"/>
                </a:lnTo>
                <a:cubicBezTo>
                  <a:pt x="17058" y="152400"/>
                  <a:pt x="0" y="135342"/>
                  <a:pt x="0" y="1143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AFAF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390322" y="41209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#FAFAF8</a:t>
            </a:r>
          </a:p>
        </p:txBody>
      </p:sp>
      <p:sp>
        <p:nvSpPr>
          <p:cNvPr id="30" name="Freeform 30"/>
          <p:cNvSpPr/>
          <p:nvPr/>
        </p:nvSpPr>
        <p:spPr>
          <a:xfrm>
            <a:off x="7353300" y="40005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66700"/>
                </a:lnTo>
                <a:cubicBezTo>
                  <a:pt x="1143000" y="287742"/>
                  <a:pt x="1125942" y="304800"/>
                  <a:pt x="1104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7429500" y="407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42" y="0"/>
                  <a:pt x="152400" y="17058"/>
                  <a:pt x="152400" y="38100"/>
                </a:cubicBezTo>
                <a:lnTo>
                  <a:pt x="152400" y="114300"/>
                </a:lnTo>
                <a:cubicBezTo>
                  <a:pt x="152400" y="135342"/>
                  <a:pt x="135342" y="152400"/>
                  <a:pt x="114300" y="152400"/>
                </a:cubicBezTo>
                <a:lnTo>
                  <a:pt x="38100" y="152400"/>
                </a:lnTo>
                <a:cubicBezTo>
                  <a:pt x="17058" y="152400"/>
                  <a:pt x="0" y="135342"/>
                  <a:pt x="0" y="1143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7352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647622" y="41209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#37352F</a:t>
            </a:r>
          </a:p>
        </p:txBody>
      </p:sp>
      <p:sp>
        <p:nvSpPr>
          <p:cNvPr id="33" name="Freeform 33"/>
          <p:cNvSpPr/>
          <p:nvPr/>
        </p:nvSpPr>
        <p:spPr>
          <a:xfrm>
            <a:off x="8610600" y="40005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66700"/>
                </a:lnTo>
                <a:cubicBezTo>
                  <a:pt x="1143000" y="287742"/>
                  <a:pt x="1125942" y="304800"/>
                  <a:pt x="1104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8686800" y="407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42" y="0"/>
                  <a:pt x="152400" y="17058"/>
                  <a:pt x="152400" y="38100"/>
                </a:cubicBezTo>
                <a:lnTo>
                  <a:pt x="152400" y="114300"/>
                </a:lnTo>
                <a:cubicBezTo>
                  <a:pt x="152400" y="135342"/>
                  <a:pt x="135342" y="152400"/>
                  <a:pt x="114300" y="152400"/>
                </a:cubicBezTo>
                <a:lnTo>
                  <a:pt x="38100" y="152400"/>
                </a:lnTo>
                <a:cubicBezTo>
                  <a:pt x="17058" y="152400"/>
                  <a:pt x="0" y="135342"/>
                  <a:pt x="0" y="1143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AAD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904922" y="41209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#2EAADC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1712" y="4641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7352F"/>
                </a:solidFill>
                <a:latin typeface="Arial"/>
                <a:ea typeface="Microsoft YaHei"/>
                <a:cs typeface="Arial"/>
              </a:rPr>
              <a:t>代表作品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82665" y="4915852"/>
            <a:ext cx="3454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Notion 应用界面 · Linear 应用设计 · Stripe 文档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8665" y="4839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9A97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8260" y="4823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78368" y="48477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通用且安全；对外部营销可能略显低调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A5C"/>
              </a:gs>
              <a:gs pos="100000">
                <a:srgbClr val="0A0A1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714750" y="666750"/>
            <a:ext cx="4762500" cy="4762500"/>
          </a:xfrm>
          <a:prstGeom prst="ellipse">
            <a:avLst/>
          </a:prstGeom>
          <a:noFill/>
          <a:ln w="4762">
            <a:solidFill>
              <a:srgbClr val="7B8CDE">
                <a:alpha val="8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381500" y="1333500"/>
            <a:ext cx="3429000" cy="3429000"/>
          </a:xfrm>
          <a:prstGeom prst="ellipse">
            <a:avLst/>
          </a:prstGeom>
          <a:noFill/>
          <a:ln w="7620">
            <a:solidFill>
              <a:srgbClr val="7B8CDE">
                <a:alpha val="12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5143500" y="2095500"/>
            <a:ext cx="1905000" cy="1905000"/>
          </a:xfrm>
          <a:prstGeom prst="ellipse">
            <a:avLst/>
          </a:prstGeom>
          <a:noFill/>
          <a:ln w="9525">
            <a:solidFill>
              <a:srgbClr val="7B8CDE">
                <a:alpha val="1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998321" y="23631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1582" y="2655570"/>
            <a:ext cx="2108835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72589" y="363188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电影感极简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6421" y="4180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8CDE">
                    <a:alpha val="35000"/>
                  </a:srgbClr>
                </a:solidFill>
                <a:latin typeface="Arial"/>
                <a:ea typeface="Microsoft YaHei"/>
                <a:cs typeface="Arial"/>
              </a:rPr>
              <a:t>极简主义流派</a:t>
            </a:r>
          </a:p>
        </p:txBody>
      </p:sp>
      <p:sp>
        <p:nvSpPr>
          <p:cNvPr id="10" name="Line 10"/>
          <p:cNvSpPr/>
          <p:nvPr/>
        </p:nvSpPr>
        <p:spPr>
          <a:xfrm>
            <a:off x="4191000" y="4762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7B8CDE">
                <a:alpha val="1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306842" y="64750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1A1A3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">
            <a:extLst>
              <a:ext uri="{FF2B5EF4-FFF2-40B4-BE49-F238E27FC236}">
                <a16:creationId xmlns:a16="http://schemas.microsoft.com/office/drawing/2014/main" id="{3F8B2460-9B9B-077F-475F-8E5FE029E9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A5C"/>
              </a:gs>
              <a:gs pos="100000">
                <a:srgbClr val="0A0A1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1070" y="379095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8CDE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09 · 极简主义流派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2495" y="755333"/>
            <a:ext cx="123015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1314450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电影感极简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1735931"/>
            <a:ext cx="25095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B8CDE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"全场灯灭，聚光灯只打一个产品"</a:t>
            </a:r>
          </a:p>
        </p:txBody>
      </p:sp>
      <p:sp>
        <p:nvSpPr>
          <p:cNvPr id="7" name="Ellipse 7"/>
          <p:cNvSpPr/>
          <p:nvPr/>
        </p:nvSpPr>
        <p:spPr>
          <a:xfrm>
            <a:off x="6000750" y="2095500"/>
            <a:ext cx="4191000" cy="1524000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762750" y="2381250"/>
            <a:ext cx="2667000" cy="952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810500" y="1714500"/>
            <a:ext cx="571500" cy="1047750"/>
          </a:xfrm>
          <a:custGeom>
            <a:avLst/>
            <a:gdLst/>
            <a:ahLst/>
            <a:cxnLst/>
            <a:rect l="l" t="t" r="r" b="b"/>
            <a:pathLst>
              <a:path w="571500" h="1047750">
                <a:moveTo>
                  <a:pt x="76200" y="0"/>
                </a:moveTo>
                <a:lnTo>
                  <a:pt x="495300" y="0"/>
                </a:lnTo>
                <a:cubicBezTo>
                  <a:pt x="537384" y="0"/>
                  <a:pt x="571500" y="34116"/>
                  <a:pt x="571500" y="76200"/>
                </a:cubicBezTo>
                <a:lnTo>
                  <a:pt x="571500" y="971550"/>
                </a:lnTo>
                <a:cubicBezTo>
                  <a:pt x="571500" y="1013634"/>
                  <a:pt x="537384" y="1047750"/>
                  <a:pt x="4953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4288">
            <a:solidFill>
              <a:srgbClr val="FFFFFF">
                <a:alpha val="50000"/>
              </a:srgb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7905750" y="1847850"/>
            <a:ext cx="381000" cy="723900"/>
          </a:xfrm>
          <a:custGeom>
            <a:avLst/>
            <a:gdLst/>
            <a:ahLst/>
            <a:cxnLst/>
            <a:rect l="l" t="t" r="r" b="b"/>
            <a:pathLst>
              <a:path w="381000" h="723900">
                <a:moveTo>
                  <a:pt x="19050" y="0"/>
                </a:moveTo>
                <a:lnTo>
                  <a:pt x="361950" y="0"/>
                </a:lnTo>
                <a:cubicBezTo>
                  <a:pt x="372471" y="0"/>
                  <a:pt x="381000" y="8529"/>
                  <a:pt x="381000" y="19050"/>
                </a:cubicBezTo>
                <a:lnTo>
                  <a:pt x="381000" y="704850"/>
                </a:lnTo>
                <a:cubicBezTo>
                  <a:pt x="381000" y="715371"/>
                  <a:pt x="372471" y="723900"/>
                  <a:pt x="361950" y="723900"/>
                </a:cubicBezTo>
                <a:lnTo>
                  <a:pt x="19050" y="723900"/>
                </a:lnTo>
                <a:cubicBezTo>
                  <a:pt x="8529" y="723900"/>
                  <a:pt x="0" y="715371"/>
                  <a:pt x="0" y="7048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058150" y="2628900"/>
            <a:ext cx="76200" cy="76200"/>
          </a:xfrm>
          <a:prstGeom prst="ellipse">
            <a:avLst/>
          </a:prstGeom>
          <a:noFill/>
          <a:ln w="4762">
            <a:solidFill>
              <a:srgbClr val="FFFFFF">
                <a:alpha val="3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143750" y="476250"/>
            <a:ext cx="952500" cy="1238250"/>
          </a:xfrm>
          <a:custGeom>
            <a:avLst/>
            <a:gdLst/>
            <a:ahLst/>
            <a:cxnLst/>
            <a:rect l="l" t="t" r="r" b="b"/>
            <a:pathLst>
              <a:path w="952500" h="1238250">
                <a:moveTo>
                  <a:pt x="952500" y="0"/>
                </a:moveTo>
                <a:lnTo>
                  <a:pt x="0" y="1238250"/>
                </a:lnTo>
              </a:path>
            </a:pathLst>
          </a:custGeom>
          <a:noFill/>
          <a:ln w="2858">
            <a:solidFill>
              <a:srgbClr val="FFFFFF">
                <a:alpha val="1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096250" y="476250"/>
            <a:ext cx="952500" cy="1238250"/>
          </a:xfrm>
          <a:custGeom>
            <a:avLst/>
            <a:gdLst/>
            <a:ahLst/>
            <a:cxnLst/>
            <a:rect l="l" t="t" r="r" b="b"/>
            <a:pathLst>
              <a:path w="952500" h="1238250">
                <a:moveTo>
                  <a:pt x="0" y="0"/>
                </a:moveTo>
                <a:lnTo>
                  <a:pt x="952500" y="1238250"/>
                </a:lnTo>
              </a:path>
            </a:pathLst>
          </a:custGeom>
          <a:noFill/>
          <a:ln w="2858">
            <a:solidFill>
              <a:srgbClr val="FFFFFF">
                <a:alpha val="1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8096250" y="476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4762">
            <a:solidFill>
              <a:srgbClr val="FFFFFF">
                <a:alpha val="15000"/>
              </a:srgbClr>
            </a:solidFill>
          </a:ln>
        </p:spPr>
      </p:sp>
      <p:sp>
        <p:nvSpPr>
          <p:cNvPr id="15" name="Ellipse 15"/>
          <p:cNvSpPr/>
          <p:nvPr/>
        </p:nvSpPr>
        <p:spPr>
          <a:xfrm>
            <a:off x="6096000" y="4000500"/>
            <a:ext cx="1143000" cy="1143000"/>
          </a:xfrm>
          <a:prstGeom prst="ellipse">
            <a:avLst/>
          </a:prstGeom>
          <a:gradFill>
            <a:gsLst>
              <a:gs pos="0">
                <a:srgbClr val="7B8CDE"/>
              </a:gs>
              <a:gs pos="100000">
                <a:srgbClr val="2A2A5C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667625" y="4333875"/>
            <a:ext cx="857250" cy="857250"/>
          </a:xfrm>
          <a:prstGeom prst="ellipse">
            <a:avLst/>
          </a:prstGeom>
          <a:gradFill>
            <a:gsLst>
              <a:gs pos="0">
                <a:srgbClr val="DE7B9C"/>
              </a:gs>
              <a:gs pos="100000">
                <a:srgbClr val="5C2A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8905875" y="4143375"/>
            <a:ext cx="666750" cy="666750"/>
          </a:xfrm>
          <a:prstGeom prst="ellipse">
            <a:avLst/>
          </a:prstGeom>
          <a:gradFill>
            <a:gsLst>
              <a:gs pos="0">
                <a:srgbClr val="7B8CDE">
                  <a:alpha val="60000"/>
                </a:srgbClr>
              </a:gs>
              <a:gs pos="100000">
                <a:srgbClr val="2A2A5C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67801" y="5348288"/>
            <a:ext cx="14758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渐变球体 — Keynote 经典元素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2831306"/>
            <a:ext cx="10061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20" name="Line 20"/>
          <p:cNvSpPr/>
          <p:nvPr/>
        </p:nvSpPr>
        <p:spPr>
          <a:xfrm>
            <a:off x="952500" y="30670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8">
            <a:solidFill>
              <a:srgbClr val="FFFFFF">
                <a:alpha val="1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1066800" y="3305175"/>
            <a:ext cx="57150" cy="57150"/>
          </a:xfrm>
          <a:prstGeom prst="ellipse">
            <a:avLst/>
          </a:prstGeom>
          <a:solidFill>
            <a:srgbClr val="7B8CD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24915" y="325850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radialGradient 构建聚光灯效果</a:t>
            </a:r>
          </a:p>
        </p:txBody>
      </p:sp>
      <p:sp>
        <p:nvSpPr>
          <p:cNvPr id="23" name="Ellipse 23"/>
          <p:cNvSpPr/>
          <p:nvPr/>
        </p:nvSpPr>
        <p:spPr>
          <a:xfrm>
            <a:off x="1066800" y="3590925"/>
            <a:ext cx="57150" cy="57150"/>
          </a:xfrm>
          <a:prstGeom prst="ellipse">
            <a:avLst/>
          </a:prstGeom>
          <a:solidFill>
            <a:srgbClr val="7B8CD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224915" y="3544252"/>
            <a:ext cx="2096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90%+ 暗色面积，内容浮于光中</a:t>
            </a:r>
          </a:p>
        </p:txBody>
      </p:sp>
      <p:sp>
        <p:nvSpPr>
          <p:cNvPr id="25" name="Ellipse 25"/>
          <p:cNvSpPr/>
          <p:nvPr/>
        </p:nvSpPr>
        <p:spPr>
          <a:xfrm>
            <a:off x="1066800" y="3876675"/>
            <a:ext cx="57150" cy="57150"/>
          </a:xfrm>
          <a:prstGeom prst="ellipse">
            <a:avLst/>
          </a:prstGeom>
          <a:solidFill>
            <a:srgbClr val="7B8CD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224915" y="38300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渐变球体作为视觉锚点</a:t>
            </a:r>
          </a:p>
        </p:txBody>
      </p:sp>
      <p:sp>
        <p:nvSpPr>
          <p:cNvPr id="27" name="Ellipse 27"/>
          <p:cNvSpPr/>
          <p:nvPr/>
        </p:nvSpPr>
        <p:spPr>
          <a:xfrm>
            <a:off x="1066800" y="4162425"/>
            <a:ext cx="57150" cy="57150"/>
          </a:xfrm>
          <a:prstGeom prst="ellipse">
            <a:avLst/>
          </a:prstGeom>
          <a:solidFill>
            <a:srgbClr val="7B8CD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224915" y="4115752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极细线条(0.3-0.5px)暗示高端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030152"/>
            <a:ext cx="3293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最佳用途：产品发布 · 高管演讲 · 品牌旗舰活动</a:t>
            </a:r>
          </a:p>
        </p:txBody>
      </p:sp>
      <p:sp>
        <p:nvSpPr>
          <p:cNvPr id="30" name="Ellipse 30"/>
          <p:cNvSpPr/>
          <p:nvPr/>
        </p:nvSpPr>
        <p:spPr>
          <a:xfrm>
            <a:off x="1000125" y="5429250"/>
            <a:ext cx="190500" cy="190500"/>
          </a:xfrm>
          <a:prstGeom prst="ellipse">
            <a:avLst/>
          </a:prstGeom>
          <a:solidFill>
            <a:srgbClr val="0A0A12"/>
          </a:solidFill>
          <a:ln w="9525">
            <a:solidFill>
              <a:srgbClr val="333333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1285875" y="5429250"/>
            <a:ext cx="190500" cy="190500"/>
          </a:xfrm>
          <a:prstGeom prst="ellipse">
            <a:avLst/>
          </a:prstGeom>
          <a:solidFill>
            <a:srgbClr val="7B8CDE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1571625" y="5429250"/>
            <a:ext cx="190500" cy="190500"/>
          </a:xfrm>
          <a:prstGeom prst="ellipse">
            <a:avLst/>
          </a:prstGeom>
          <a:solidFill>
            <a:srgbClr val="DE7B9C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857375" y="542925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223260" y="544258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84320" y="547497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高端感无敌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F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858000" y="1714500"/>
            <a:ext cx="3429000" cy="3429000"/>
          </a:xfrm>
          <a:prstGeom prst="ellipse">
            <a:avLst/>
          </a:prstGeom>
          <a:noFill/>
          <a:ln w="9525">
            <a:solidFill>
              <a:srgbClr val="B87333">
                <a:alpha val="8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7429500" y="2286000"/>
            <a:ext cx="2286000" cy="2286000"/>
          </a:xfrm>
          <a:prstGeom prst="ellipse">
            <a:avLst/>
          </a:prstGeom>
          <a:noFill/>
          <a:ln w="4762">
            <a:solidFill>
              <a:srgbClr val="2C3E50">
                <a:alpha val="6000"/>
              </a:srgbClr>
            </a:solidFill>
          </a:ln>
        </p:spPr>
      </p:sp>
      <p:sp>
        <p:nvSpPr>
          <p:cNvPr id="5" name="Polygon 5"/>
          <p:cNvSpPr/>
          <p:nvPr/>
        </p:nvSpPr>
        <p:spPr>
          <a:xfrm>
            <a:off x="7239000" y="1905000"/>
            <a:ext cx="2667000" cy="3048000"/>
          </a:xfrm>
          <a:custGeom>
            <a:avLst/>
            <a:gdLst/>
            <a:ahLst/>
            <a:cxnLst/>
            <a:rect l="l" t="t" r="r" b="b"/>
            <a:pathLst>
              <a:path w="2667000" h="3048000">
                <a:moveTo>
                  <a:pt x="1333500" y="0"/>
                </a:moveTo>
                <a:lnTo>
                  <a:pt x="2667000" y="1524000"/>
                </a:lnTo>
                <a:lnTo>
                  <a:pt x="1333500" y="3048000"/>
                </a:lnTo>
                <a:lnTo>
                  <a:pt x="0" y="1524000"/>
                </a:lnTo>
                <a:close/>
              </a:path>
            </a:pathLst>
          </a:custGeom>
          <a:noFill/>
          <a:ln w="9525">
            <a:solidFill>
              <a:srgbClr val="B87333">
                <a:alpha val="1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6858000" y="3429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4762">
            <a:solidFill>
              <a:srgbClr val="2C3E50">
                <a:alpha val="6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8572500" y="17145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4762">
            <a:solidFill>
              <a:srgbClr val="2C3E50">
                <a:alpha val="6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0560" y="175260"/>
            <a:ext cx="1121397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B87333">
                    <a:alpha val="12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850" y="2752725"/>
            <a:ext cx="4461843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Instrumental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3425" y="3567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2C3E50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几何精准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4000500"/>
            <a:ext cx="1524000" cy="266700"/>
          </a:xfrm>
          <a:prstGeom prst="rect">
            <a:avLst/>
          </a:prstGeom>
          <a:solidFill>
            <a:srgbClr val="B87333">
              <a:alpha val="8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4421" y="4085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87333"/>
                </a:solidFill>
                <a:latin typeface="Arial"/>
                <a:ea typeface="Microsoft YaHei"/>
                <a:cs typeface="Arial"/>
              </a:rPr>
              <a:t>实验先锋流派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464915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GEOMETRIC PRECISION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6842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F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715500" y="666750"/>
            <a:ext cx="1524000" cy="1524000"/>
          </a:xfrm>
          <a:prstGeom prst="ellipse">
            <a:avLst/>
          </a:prstGeom>
          <a:noFill/>
          <a:ln w="4762">
            <a:solidFill>
              <a:srgbClr val="B87333">
                <a:alpha val="6000"/>
              </a:srgbClr>
            </a:solidFill>
          </a:ln>
        </p:spPr>
      </p:sp>
      <p:sp>
        <p:nvSpPr>
          <p:cNvPr id="4" name="Polygon 4"/>
          <p:cNvSpPr/>
          <p:nvPr/>
        </p:nvSpPr>
        <p:spPr>
          <a:xfrm>
            <a:off x="10001250" y="5238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476250"/>
                </a:moveTo>
                <a:lnTo>
                  <a:pt x="952500" y="0"/>
                </a:lnTo>
                <a:lnTo>
                  <a:pt x="952500" y="952500"/>
                </a:lnTo>
                <a:close/>
              </a:path>
            </a:pathLst>
          </a:custGeom>
          <a:solidFill>
            <a:srgbClr val="B87333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0570" y="379095"/>
            <a:ext cx="140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87333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实验先锋流派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805" y="692468"/>
            <a:ext cx="319733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Instrumental 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5805" y="692468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几何精准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162050"/>
            <a:ext cx="762000" cy="28575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4855" y="1425892"/>
            <a:ext cx="3405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"几何形状既是结构系统也是装饰系统"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1886902"/>
            <a:ext cx="3484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几何=结构+装饰 · 数学关系 · 黄金比例 · 精确构造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24503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2744152"/>
            <a:ext cx="27563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低透明度 circle/line/polygon 构建背景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29918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内容卡片使用几何裁剪形状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239452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主要布局使用黄金比例 (1.618)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4871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强调装饰为精确几何构造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905500" y="2333625"/>
            <a:ext cx="5334000" cy="1905000"/>
          </a:xfrm>
          <a:prstGeom prst="rect">
            <a:avLst/>
          </a:prstGeom>
          <a:solidFill>
            <a:srgbClr val="F0EFEB"/>
          </a:solidFill>
          <a:ln w="4762">
            <a:solidFill>
              <a:srgbClr val="2C3E50">
                <a:alpha val="15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084570" y="2474595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7333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几何构成演示 · 黄金比例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2762250"/>
            <a:ext cx="3238500" cy="2000250"/>
          </a:xfrm>
          <a:prstGeom prst="rect">
            <a:avLst/>
          </a:prstGeom>
          <a:noFill/>
          <a:ln w="9525">
            <a:solidFill>
              <a:srgbClr val="2C3E50">
                <a:alpha val="20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8286750" y="2762250"/>
            <a:ext cx="9525" cy="2000250"/>
          </a:xfrm>
          <a:custGeom>
            <a:avLst/>
            <a:gdLst/>
            <a:ahLst/>
            <a:cxnLst/>
            <a:rect l="l" t="t" r="r" b="b"/>
            <a:pathLst>
              <a:path w="9525" h="2000250">
                <a:moveTo>
                  <a:pt x="0" y="0"/>
                </a:moveTo>
                <a:lnTo>
                  <a:pt x="0" y="2000250"/>
                </a:lnTo>
              </a:path>
            </a:pathLst>
          </a:custGeom>
          <a:noFill/>
          <a:ln w="9525">
            <a:solidFill>
              <a:srgbClr val="B87333">
                <a:alpha val="30000"/>
              </a:srgbClr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286750" y="2762250"/>
            <a:ext cx="1238250" cy="1238250"/>
          </a:xfrm>
          <a:prstGeom prst="rect">
            <a:avLst/>
          </a:prstGeom>
          <a:solidFill>
            <a:srgbClr val="B87333">
              <a:alpha val="6000"/>
            </a:srgbClr>
          </a:solidFill>
          <a:ln w="4762">
            <a:solidFill>
              <a:srgbClr val="B87333">
                <a:alpha val="2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6286500" y="2762250"/>
            <a:ext cx="4000500" cy="4000500"/>
          </a:xfrm>
          <a:prstGeom prst="ellipse">
            <a:avLst/>
          </a:prstGeom>
          <a:noFill/>
          <a:ln w="4762">
            <a:solidFill>
              <a:srgbClr val="2C3E50">
                <a:alpha val="8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133272" y="4863941"/>
            <a:ext cx="4968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7333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φ = 1.618</a:t>
            </a:r>
          </a:p>
        </p:txBody>
      </p:sp>
      <p:sp>
        <p:nvSpPr>
          <p:cNvPr id="24" name="Polygon 24"/>
          <p:cNvSpPr/>
          <p:nvPr/>
        </p:nvSpPr>
        <p:spPr>
          <a:xfrm>
            <a:off x="9334500" y="2952750"/>
            <a:ext cx="1524000" cy="1047750"/>
          </a:xfrm>
          <a:custGeom>
            <a:avLst/>
            <a:gdLst/>
            <a:ahLst/>
            <a:cxnLst/>
            <a:rect l="l" t="t" r="r" b="b"/>
            <a:pathLst>
              <a:path w="1524000" h="1047750">
                <a:moveTo>
                  <a:pt x="762000" y="0"/>
                </a:moveTo>
                <a:lnTo>
                  <a:pt x="1524000" y="1047750"/>
                </a:lnTo>
                <a:lnTo>
                  <a:pt x="0" y="1047750"/>
                </a:lnTo>
                <a:close/>
              </a:path>
            </a:pathLst>
          </a:custGeom>
          <a:noFill/>
          <a:ln w="9525">
            <a:solidFill>
              <a:srgbClr val="B87333">
                <a:alpha val="15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7712" y="43553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46491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建筑演示 · 工程展示 · 数学/科学主题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7712" y="5117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539210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建筑感：混凝土灰 + 蓝图蓝 + 铜色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5676900"/>
            <a:ext cx="228600" cy="228600"/>
          </a:xfrm>
          <a:prstGeom prst="rect">
            <a:avLst/>
          </a:prstGeom>
          <a:solidFill>
            <a:srgbClr val="F0EFEB"/>
          </a:solidFill>
          <a:ln w="9525">
            <a:solidFill>
              <a:srgbClr val="CCCCCC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1104900" y="5676900"/>
            <a:ext cx="228600" cy="228600"/>
          </a:xfrm>
          <a:prstGeom prst="rect">
            <a:avLst/>
          </a:prstGeom>
          <a:solidFill>
            <a:srgbClr val="2C3E5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447800" y="5676900"/>
            <a:ext cx="228600" cy="228600"/>
          </a:xfrm>
          <a:prstGeom prst="rect">
            <a:avLst/>
          </a:prstGeom>
          <a:solidFill>
            <a:srgbClr val="B8733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892165" y="4363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1760" y="43472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★★★☆☆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21868" y="4371499"/>
            <a:ext cx="25238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结构化/技术内容有力；叙事类过于刚硬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 rot="-180000">
            <a:off x="-381000" y="952500"/>
            <a:ext cx="4762500" cy="3810000"/>
          </a:xfrm>
          <a:prstGeom prst="rect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120000">
            <a:off x="1905000" y="476250"/>
            <a:ext cx="5715000" cy="4762500"/>
          </a:xfrm>
          <a:prstGeom prst="rect">
            <a:avLst/>
          </a:prstGeom>
          <a:solidFill>
            <a:srgbClr val="FFD700">
              <a:alpha val="4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-60000">
            <a:off x="6667500" y="1428750"/>
            <a:ext cx="6667500" cy="3333750"/>
          </a:xfrm>
          <a:prstGeom prst="rect">
            <a:avLst/>
          </a:prstGeom>
          <a:solidFill>
            <a:srgbClr val="FF6B35">
              <a:alpha val="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810000" y="2857500"/>
            <a:ext cx="3810000" cy="2857500"/>
          </a:xfrm>
          <a:prstGeom prst="rect">
            <a:avLst/>
          </a:prstGeom>
          <a:solidFill>
            <a:srgbClr val="FFD700">
              <a:alpha val="3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B35">
                  <a:alpha val="6000"/>
                </a:srgbClr>
              </a:gs>
              <a:gs pos="100000">
                <a:srgbClr val="FFD700">
                  <a:alpha val="3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353300" y="2495550"/>
            <a:ext cx="24656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6B35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8660" y="2689860"/>
            <a:ext cx="345589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8E0D5"/>
                </a:solidFill>
                <a:latin typeface="Arial"/>
                <a:ea typeface="Microsoft YaHei"/>
                <a:cs typeface="Arial"/>
              </a:rPr>
              <a:t>Olschinsky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3425" y="347186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FFD700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数字拼贴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390525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28600"/>
                </a:lnTo>
                <a:cubicBezTo>
                  <a:pt x="1524000" y="249642"/>
                  <a:pt x="1506942" y="266700"/>
                  <a:pt x="1485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6B35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4421" y="39904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实验先锋流派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4553902"/>
            <a:ext cx="1207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0D5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DIGITAL COLLAGE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6B35">
              <a:alpha val="3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0" y="952500"/>
            <a:ext cx="8382000" cy="4762500"/>
          </a:xfrm>
          <a:prstGeom prst="rect">
            <a:avLst/>
          </a:prstGeom>
          <a:solidFill>
            <a:srgbClr val="FFD700">
              <a:alpha val="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0570" y="379095"/>
            <a:ext cx="1056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6B35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4420" y="3790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实验先锋流派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805" y="692468"/>
            <a:ext cx="271657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8E0D5"/>
                </a:solidFill>
                <a:latin typeface="Arial"/>
                <a:ea typeface="Microsoft YaHei"/>
                <a:cs typeface="Arial"/>
              </a:rPr>
              <a:t>Olschinsky 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59555" y="692468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D700"/>
                </a:solidFill>
                <a:latin typeface="Arial"/>
                <a:ea typeface="Microsoft YaHei"/>
                <a:cs typeface="Arial"/>
              </a:rPr>
              <a:t>数字拼贴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162050"/>
            <a:ext cx="114300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4855" y="1425892"/>
            <a:ext cx="38001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E0D5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"通过元素堆积而非表面处理获得丰富质感"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1762125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228600"/>
                </a:lnTo>
                <a:cubicBezTo>
                  <a:pt x="1238250" y="249642"/>
                  <a:pt x="1221192" y="266700"/>
                  <a:pt x="1200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6B35">
              <a:alpha val="1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12746" y="18378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层叠复杂性</a:t>
            </a:r>
          </a:p>
        </p:txBody>
      </p:sp>
      <p:sp>
        <p:nvSpPr>
          <p:cNvPr id="13" name="Freeform 13"/>
          <p:cNvSpPr/>
          <p:nvPr/>
        </p:nvSpPr>
        <p:spPr>
          <a:xfrm>
            <a:off x="2114550" y="1762125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228600"/>
                </a:lnTo>
                <a:cubicBezTo>
                  <a:pt x="1238250" y="249642"/>
                  <a:pt x="1221192" y="266700"/>
                  <a:pt x="1200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D700">
              <a:alpha val="12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365296" y="18378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D700"/>
                </a:solidFill>
                <a:latin typeface="Arial"/>
                <a:ea typeface="Microsoft YaHei"/>
                <a:cs typeface="Arial"/>
              </a:rPr>
              <a:t>多信息平面</a:t>
            </a:r>
          </a:p>
        </p:txBody>
      </p:sp>
      <p:sp>
        <p:nvSpPr>
          <p:cNvPr id="15" name="Freeform 15"/>
          <p:cNvSpPr/>
          <p:nvPr/>
        </p:nvSpPr>
        <p:spPr>
          <a:xfrm>
            <a:off x="3467100" y="1762125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228600"/>
                </a:lnTo>
                <a:cubicBezTo>
                  <a:pt x="1238250" y="249642"/>
                  <a:pt x="1221192" y="266700"/>
                  <a:pt x="1200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6B35">
              <a:alpha val="12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717846" y="18378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半透明纵深</a:t>
            </a:r>
          </a:p>
        </p:txBody>
      </p:sp>
      <p:sp>
        <p:nvSpPr>
          <p:cNvPr id="17" name="Freeform 17"/>
          <p:cNvSpPr/>
          <p:nvPr/>
        </p:nvSpPr>
        <p:spPr>
          <a:xfrm>
            <a:off x="4819650" y="17621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28600"/>
                </a:lnTo>
                <a:cubicBezTo>
                  <a:pt x="1143000" y="249642"/>
                  <a:pt x="1125942" y="266700"/>
                  <a:pt x="110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D700">
              <a:alpha val="12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093970" y="18378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D700"/>
                </a:solidFill>
                <a:latin typeface="Arial"/>
                <a:ea typeface="Microsoft YaHei"/>
                <a:cs typeface="Arial"/>
              </a:rPr>
              <a:t>氛围渐变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712" y="24503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E0D5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8665" y="2744152"/>
            <a:ext cx="3047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多个 rect fill-opacity 0.05-0.15 创建纵深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8665" y="29918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不同大小的重叠文本块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2394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内容块刻意延伸到安全边距外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665" y="3487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渐变叠加创造氛围纵深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905500" y="2333625"/>
            <a:ext cx="5524500" cy="1809750"/>
          </a:xfrm>
          <a:prstGeom prst="rect">
            <a:avLst/>
          </a:prstGeom>
          <a:solidFill>
            <a:srgbClr val="1B2838"/>
          </a:solidFill>
          <a:ln w="4762">
            <a:solidFill>
              <a:srgbClr val="FF6B35">
                <a:alpha val="15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085522" y="24826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35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层叠纵深演示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2762250"/>
            <a:ext cx="1905000" cy="1143000"/>
          </a:xfrm>
          <a:prstGeom prst="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858000" y="2952750"/>
            <a:ext cx="1905000" cy="952500"/>
          </a:xfrm>
          <a:prstGeom prst="rect">
            <a:avLst/>
          </a:prstGeom>
          <a:solidFill>
            <a:srgbClr val="FFD700">
              <a:alpha val="6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429500" y="2857500"/>
            <a:ext cx="1714500" cy="1047750"/>
          </a:xfrm>
          <a:prstGeom prst="rect">
            <a:avLst/>
          </a:prstGeom>
          <a:solidFill>
            <a:srgbClr val="FF6B35">
              <a:alpha val="1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9525000" y="2667000"/>
            <a:ext cx="1524000" cy="1238250"/>
          </a:xfrm>
          <a:prstGeom prst="rect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168640" y="3329940"/>
            <a:ext cx="804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0D5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Depth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00260" y="3299460"/>
            <a:ext cx="5650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6B35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layers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7712" y="44505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E0D5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474440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创意行业演示 · 艺术/文化活动 · 品牌探索幻灯片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7712" y="5212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E0D5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8665" y="5506402"/>
            <a:ext cx="24726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3-4 种半透明颜色通过重叠创造纵深</a:t>
            </a:r>
          </a:p>
        </p:txBody>
      </p:sp>
      <p:sp>
        <p:nvSpPr>
          <p:cNvPr id="36" name="Ellipse 36"/>
          <p:cNvSpPr/>
          <p:nvPr/>
        </p:nvSpPr>
        <p:spPr>
          <a:xfrm>
            <a:off x="857250" y="5810250"/>
            <a:ext cx="190500" cy="190500"/>
          </a:xfrm>
          <a:prstGeom prst="ellipse">
            <a:avLst/>
          </a:prstGeom>
          <a:solidFill>
            <a:srgbClr val="1B2838"/>
          </a:solidFill>
          <a:ln w="9525">
            <a:solidFill>
              <a:srgbClr val="555555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190625" y="5810250"/>
            <a:ext cx="190500" cy="190500"/>
          </a:xfrm>
          <a:prstGeom prst="ellipse">
            <a:avLst/>
          </a:prstGeom>
          <a:solidFill>
            <a:srgbClr val="FF6B35">
              <a:alpha val="70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524000" y="5810250"/>
            <a:ext cx="190500" cy="190500"/>
          </a:xfrm>
          <a:prstGeom prst="ellipse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892165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1760" y="4442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★★☆☆☆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21868" y="44667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视觉丰富但可能过度刺激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1905000" y="1905000"/>
            <a:ext cx="2857500" cy="1428750"/>
          </a:xfrm>
          <a:custGeom>
            <a:avLst/>
            <a:gdLst/>
            <a:ahLst/>
            <a:cxnLst/>
            <a:rect l="l" t="t" r="r" b="b"/>
            <a:pathLst>
              <a:path w="2857500" h="1428750">
                <a:moveTo>
                  <a:pt x="0" y="0"/>
                </a:moveTo>
                <a:lnTo>
                  <a:pt x="2857500" y="1428750"/>
                </a:lnTo>
              </a:path>
            </a:pathLst>
          </a:custGeom>
          <a:noFill/>
          <a:ln w="4762">
            <a:solidFill>
              <a:srgbClr val="3D4F7C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733925" y="3305175"/>
            <a:ext cx="57150" cy="57150"/>
          </a:xfrm>
          <a:prstGeom prst="ellipse">
            <a:avLst/>
          </a:prstGeom>
          <a:solidFill>
            <a:srgbClr val="C4785B">
              <a:alpha val="30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4762500" y="2857500"/>
            <a:ext cx="1905000" cy="476250"/>
          </a:xfrm>
          <a:custGeom>
            <a:avLst/>
            <a:gdLst/>
            <a:ahLst/>
            <a:cxnLst/>
            <a:rect l="l" t="t" r="r" b="b"/>
            <a:pathLst>
              <a:path w="1905000" h="476250">
                <a:moveTo>
                  <a:pt x="0" y="47625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3D4F7C">
                <a:alpha val="1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6648450" y="2838450"/>
            <a:ext cx="38100" cy="38100"/>
          </a:xfrm>
          <a:prstGeom prst="ellipse">
            <a:avLst/>
          </a:prstGeom>
          <a:solidFill>
            <a:srgbClr val="3D4F7C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58200" y="1409700"/>
            <a:ext cx="1345882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dirty="0">
                <a:solidFill>
                  <a:srgbClr val="3D4F7C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0660" y="3547110"/>
            <a:ext cx="236096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Takram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9235" y="4266248"/>
            <a:ext cx="17583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C4785B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东方设计思维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618" y="4847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D4F7C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东方哲学流派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0665" y="5220652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D4F7C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EASTERN DESIGN THINKING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5530" y="5135880"/>
            <a:ext cx="6172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3D4F7C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DDDDDD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31570" y="426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785B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2070" y="426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东方哲学流派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8710" y="803910"/>
            <a:ext cx="18697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Takram 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4210" y="8039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东方设计思维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128587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C4785B">
                <a:alpha val="4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26808" y="1557814"/>
            <a:ext cx="30304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4F7C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"看起来像手绘但数学上精确的图解"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712" y="2021681"/>
            <a:ext cx="3667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4785B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技术与人文交汇 · 温暖的精确 · 間 (Ma) · 细描边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8712" y="26408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28765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4762">
            <a:solidFill>
              <a:srgbClr val="3D4F7C">
                <a:alpha val="1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29665" y="3010852"/>
            <a:ext cx="1682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充裕留白 70%+ 页面面积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325850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细描边连接线 stroke-width="1"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665" y="3506152"/>
            <a:ext cx="2089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温暖背景色调 #FAFAF5 奶油色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9665" y="37538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文字以有意的不对称方式定位</a:t>
            </a:r>
          </a:p>
        </p:txBody>
      </p:sp>
      <p:sp>
        <p:nvSpPr>
          <p:cNvPr id="16" name="Line 16"/>
          <p:cNvSpPr/>
          <p:nvPr/>
        </p:nvSpPr>
        <p:spPr>
          <a:xfrm>
            <a:off x="6286500" y="2762250"/>
            <a:ext cx="1333500" cy="476250"/>
          </a:xfrm>
          <a:custGeom>
            <a:avLst/>
            <a:gdLst/>
            <a:ahLst/>
            <a:cxnLst/>
            <a:rect l="l" t="t" r="r" b="b"/>
            <a:pathLst>
              <a:path w="1333500" h="476250">
                <a:moveTo>
                  <a:pt x="0" y="0"/>
                </a:moveTo>
                <a:lnTo>
                  <a:pt x="1333500" y="476250"/>
                </a:lnTo>
              </a:path>
            </a:pathLst>
          </a:custGeom>
          <a:noFill/>
          <a:ln w="9525">
            <a:solidFill>
              <a:srgbClr val="3D4F7C">
                <a:alpha val="20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7581900" y="3200400"/>
            <a:ext cx="76200" cy="76200"/>
          </a:xfrm>
          <a:prstGeom prst="ellipse">
            <a:avLst/>
          </a:prstGeom>
          <a:solidFill>
            <a:srgbClr val="C4785B">
              <a:alpha val="5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751445" y="31889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D4F7C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技术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0" y="2952750"/>
            <a:ext cx="1333500" cy="285750"/>
          </a:xfrm>
          <a:custGeom>
            <a:avLst/>
            <a:gdLst/>
            <a:ahLst/>
            <a:cxnLst/>
            <a:rect l="l" t="t" r="r" b="b"/>
            <a:pathLst>
              <a:path w="1333500" h="285750">
                <a:moveTo>
                  <a:pt x="0" y="28575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3D4F7C">
                <a:alpha val="15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915400" y="2914650"/>
            <a:ext cx="76200" cy="76200"/>
          </a:xfrm>
          <a:prstGeom prst="ellipse">
            <a:avLst/>
          </a:prstGeom>
          <a:solidFill>
            <a:srgbClr val="C4785B">
              <a:alpha val="4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84945" y="29032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D4F7C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人文</a:t>
            </a:r>
          </a:p>
        </p:txBody>
      </p:sp>
      <p:sp>
        <p:nvSpPr>
          <p:cNvPr id="22" name="Line 22"/>
          <p:cNvSpPr/>
          <p:nvPr/>
        </p:nvSpPr>
        <p:spPr>
          <a:xfrm>
            <a:off x="8953500" y="2952750"/>
            <a:ext cx="1333500" cy="476250"/>
          </a:xfrm>
          <a:custGeom>
            <a:avLst/>
            <a:gdLst/>
            <a:ahLst/>
            <a:cxnLst/>
            <a:rect l="l" t="t" r="r" b="b"/>
            <a:pathLst>
              <a:path w="1333500" h="476250">
                <a:moveTo>
                  <a:pt x="0" y="0"/>
                </a:moveTo>
                <a:lnTo>
                  <a:pt x="1333500" y="476250"/>
                </a:lnTo>
              </a:path>
            </a:pathLst>
          </a:custGeom>
          <a:noFill/>
          <a:ln w="9525">
            <a:solidFill>
              <a:srgbClr val="3D4F7C">
                <a:alpha val="20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239375" y="3381375"/>
            <a:ext cx="95250" cy="95250"/>
          </a:xfrm>
          <a:prstGeom prst="ellipse">
            <a:avLst/>
          </a:prstGeom>
          <a:solidFill>
            <a:srgbClr val="C4785B">
              <a:alpha val="6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418445" y="33794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785B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交汇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66710" y="3709035"/>
            <a:ext cx="4629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3D4F7C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66772" y="3911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D4F7C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空白承载意义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712" y="454580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9665" y="4839652"/>
            <a:ext cx="2833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设计思维工作坊 · 创新战略 · 跨文化演示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8712" y="53078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D4F7C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9665" y="558260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暖中性色 + 一个自然灵感强调色</a:t>
            </a:r>
          </a:p>
        </p:txBody>
      </p:sp>
      <p:sp>
        <p:nvSpPr>
          <p:cNvPr id="31" name="Ellipse 31"/>
          <p:cNvSpPr/>
          <p:nvPr/>
        </p:nvSpPr>
        <p:spPr>
          <a:xfrm>
            <a:off x="1238250" y="5857875"/>
            <a:ext cx="190500" cy="190500"/>
          </a:xfrm>
          <a:prstGeom prst="ellipse">
            <a:avLst/>
          </a:prstGeom>
          <a:solidFill>
            <a:srgbClr val="FAFAF5"/>
          </a:solidFill>
          <a:ln w="9525">
            <a:solidFill>
              <a:srgbClr val="DDDDD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495425" y="591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奶油</a:t>
            </a:r>
          </a:p>
        </p:txBody>
      </p:sp>
      <p:sp>
        <p:nvSpPr>
          <p:cNvPr id="33" name="Ellipse 33"/>
          <p:cNvSpPr/>
          <p:nvPr/>
        </p:nvSpPr>
        <p:spPr>
          <a:xfrm>
            <a:off x="1905000" y="5857875"/>
            <a:ext cx="190500" cy="190500"/>
          </a:xfrm>
          <a:prstGeom prst="ellipse">
            <a:avLst/>
          </a:prstGeom>
          <a:solidFill>
            <a:srgbClr val="3D4F7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162175" y="591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靛蓝</a:t>
            </a:r>
          </a:p>
        </p:txBody>
      </p:sp>
      <p:sp>
        <p:nvSpPr>
          <p:cNvPr id="35" name="Ellipse 35"/>
          <p:cNvSpPr/>
          <p:nvPr/>
        </p:nvSpPr>
        <p:spPr>
          <a:xfrm>
            <a:off x="2571750" y="5857875"/>
            <a:ext cx="190500" cy="190500"/>
          </a:xfrm>
          <a:prstGeom prst="ellipse">
            <a:avLst/>
          </a:prstGeom>
          <a:solidFill>
            <a:srgbClr val="C4785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28925" y="591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赤陶</a:t>
            </a:r>
          </a:p>
        </p:txBody>
      </p:sp>
      <p:sp>
        <p:nvSpPr>
          <p:cNvPr id="37" name="Ellipse 37"/>
          <p:cNvSpPr/>
          <p:nvPr/>
        </p:nvSpPr>
        <p:spPr>
          <a:xfrm>
            <a:off x="3238500" y="5857875"/>
            <a:ext cx="190500" cy="190500"/>
          </a:xfrm>
          <a:prstGeom prst="ellipse">
            <a:avLst/>
          </a:prstGeom>
          <a:solidFill>
            <a:srgbClr val="5B7B4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495675" y="591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苔藓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3165" y="4553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2760" y="45377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02868" y="45619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普遍优雅；思辨性内容尤其有力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DDDDDD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17490" y="28394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48344" y="3469958"/>
            <a:ext cx="24953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虚空即充盈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22608" y="4268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>
                    <a:alpha val="25000"/>
                  </a:srgbClr>
                </a:solidFill>
                <a:latin typeface="Arial"/>
                <a:ea typeface="Microsoft YaHei"/>
                <a:cs typeface="Arial"/>
              </a:rPr>
              <a:t>东方哲学流派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EEEEEE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513522" y="8634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13 · 东方哲学流派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3520" y="1645920"/>
            <a:ext cx="199320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Kenya Hara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3045" y="2155508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虚空即充盈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2346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空并非无物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1140" y="36156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而是承载可能性的容器。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0665" y="4553902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>
                    <a:alpha val="35000"/>
                  </a:srgbClr>
                </a:solidFill>
                <a:latin typeface="Arial"/>
                <a:ea typeface="Microsoft YaHei"/>
                <a:cs typeface="Arial"/>
              </a:rPr>
              <a:t>白非空白 · 字体即雕塑 · 不展示的力量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0665" y="5220652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思想领导力 · 奢侈品牌 · 沉思型演示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0665" y="57921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B800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★★★☆☆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1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EEEEEE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6C737A4-7465-2706-234C-43736210CB66}"/>
              </a:ext>
            </a:extLst>
          </p:cNvPr>
          <p:cNvSpPr/>
          <p:nvPr/>
        </p:nvSpPr>
        <p:spPr>
          <a:xfrm>
            <a:off x="6418897" y="3183732"/>
            <a:ext cx="1143000" cy="1143000"/>
          </a:xfrm>
          <a:prstGeom prst="rect">
            <a:avLst/>
          </a:prstGeom>
          <a:noFill/>
          <a:ln w="4762">
            <a:solidFill>
              <a:srgbClr val="333333">
                <a:alpha val="15000"/>
              </a:srgbClr>
            </a:solidFill>
          </a:ln>
        </p:spPr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81842D4-D217-DC16-65DB-679648918BC8}"/>
              </a:ext>
            </a:extLst>
          </p:cNvPr>
          <p:cNvSpPr txBox="1"/>
          <p:nvPr/>
        </p:nvSpPr>
        <p:spPr>
          <a:xfrm>
            <a:off x="6926103" y="4483894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33333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空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4237DE21-F5C2-B57D-0C46-B7EFF596E1A4}"/>
              </a:ext>
            </a:extLst>
          </p:cNvPr>
          <p:cNvSpPr/>
          <p:nvPr/>
        </p:nvSpPr>
        <p:spPr>
          <a:xfrm>
            <a:off x="7942897" y="3183732"/>
            <a:ext cx="1143000" cy="1143000"/>
          </a:xfrm>
          <a:prstGeom prst="rect">
            <a:avLst/>
          </a:prstGeom>
          <a:solidFill>
            <a:srgbClr val="333333">
              <a:alpha val="4000"/>
            </a:srgbClr>
          </a:solidFill>
          <a:ln>
            <a:noFill/>
          </a:ln>
        </p:spPr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C2218A0A-B71C-4535-79AA-1883652844DB}"/>
              </a:ext>
            </a:extLst>
          </p:cNvPr>
          <p:cNvSpPr/>
          <p:nvPr/>
        </p:nvSpPr>
        <p:spPr>
          <a:xfrm>
            <a:off x="8038147" y="3278982"/>
            <a:ext cx="952500" cy="952500"/>
          </a:xfrm>
          <a:prstGeom prst="rect">
            <a:avLst/>
          </a:prstGeom>
          <a:solidFill>
            <a:srgbClr val="333333">
              <a:alpha val="4000"/>
            </a:srgbClr>
          </a:solidFill>
          <a:ln>
            <a:noFill/>
          </a:ln>
        </p:spPr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70FAC07-50EE-DBD1-4CC1-A763B206CACF}"/>
              </a:ext>
            </a:extLst>
          </p:cNvPr>
          <p:cNvSpPr/>
          <p:nvPr/>
        </p:nvSpPr>
        <p:spPr>
          <a:xfrm>
            <a:off x="8133397" y="3374232"/>
            <a:ext cx="762000" cy="762000"/>
          </a:xfrm>
          <a:prstGeom prst="rect">
            <a:avLst/>
          </a:prstGeom>
          <a:solidFill>
            <a:srgbClr val="333333">
              <a:alpha val="4000"/>
            </a:srgbClr>
          </a:solidFill>
          <a:ln>
            <a:noFill/>
          </a:ln>
        </p:spPr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46655D8F-FED0-17F7-D7BF-9DCCD1DA30E7}"/>
              </a:ext>
            </a:extLst>
          </p:cNvPr>
          <p:cNvSpPr txBox="1"/>
          <p:nvPr/>
        </p:nvSpPr>
        <p:spPr>
          <a:xfrm>
            <a:off x="8450103" y="4483894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33333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满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D3660C58-4DC7-2666-F5EC-BE043AC6EB7B}"/>
              </a:ext>
            </a:extLst>
          </p:cNvPr>
          <p:cNvSpPr/>
          <p:nvPr/>
        </p:nvSpPr>
        <p:spPr>
          <a:xfrm>
            <a:off x="9466897" y="3183732"/>
            <a:ext cx="1143000" cy="1143000"/>
          </a:xfrm>
          <a:prstGeom prst="rect">
            <a:avLst/>
          </a:prstGeom>
          <a:noFill/>
          <a:ln w="9525">
            <a:solidFill>
              <a:srgbClr val="333333">
                <a:alpha val="20000"/>
              </a:srgbClr>
            </a:solidFill>
          </a:ln>
        </p:spPr>
      </p:sp>
      <p:sp>
        <p:nvSpPr>
          <p:cNvPr id="19" name="Ellipse 13">
            <a:extLst>
              <a:ext uri="{FF2B5EF4-FFF2-40B4-BE49-F238E27FC236}">
                <a16:creationId xmlns:a16="http://schemas.microsoft.com/office/drawing/2014/main" id="{5CBA0C44-CB4E-4DC8-5879-2866E9ACC2D4}"/>
              </a:ext>
            </a:extLst>
          </p:cNvPr>
          <p:cNvSpPr/>
          <p:nvPr/>
        </p:nvSpPr>
        <p:spPr>
          <a:xfrm>
            <a:off x="10009822" y="3726657"/>
            <a:ext cx="57150" cy="57150"/>
          </a:xfrm>
          <a:prstGeom prst="ellipse">
            <a:avLst/>
          </a:prstGeom>
          <a:solidFill>
            <a:srgbClr val="333333">
              <a:alpha val="15000"/>
            </a:srgbClr>
          </a:solidFill>
          <a:ln>
            <a:noFill/>
          </a:ln>
        </p:spPr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122E74E2-9CDF-9950-2F9D-418E492DDCA3}"/>
              </a:ext>
            </a:extLst>
          </p:cNvPr>
          <p:cNvSpPr txBox="1"/>
          <p:nvPr/>
        </p:nvSpPr>
        <p:spPr>
          <a:xfrm>
            <a:off x="9864566" y="4483894"/>
            <a:ext cx="3476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33333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可能性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64DF8C53-8553-39AE-AE64-0A48BE713ED0}"/>
              </a:ext>
            </a:extLst>
          </p:cNvPr>
          <p:cNvSpPr/>
          <p:nvPr/>
        </p:nvSpPr>
        <p:spPr>
          <a:xfrm>
            <a:off x="7657147" y="3755232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858">
            <a:solidFill>
              <a:srgbClr val="333333">
                <a:alpha val="20000"/>
              </a:srgbClr>
            </a:solidFill>
          </a:ln>
        </p:spPr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FBC795E8-81CC-1C55-72F0-61EBB7558953}"/>
              </a:ext>
            </a:extLst>
          </p:cNvPr>
          <p:cNvSpPr/>
          <p:nvPr/>
        </p:nvSpPr>
        <p:spPr>
          <a:xfrm>
            <a:off x="9181147" y="3755232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858">
            <a:solidFill>
              <a:srgbClr val="333333">
                <a:alpha val="20000"/>
              </a:srgbClr>
            </a:solidFill>
          </a:ln>
        </p:spPr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31CCBE31-EA5E-460D-09EA-5DD97ED2FE69}"/>
              </a:ext>
            </a:extLst>
          </p:cNvPr>
          <p:cNvSpPr/>
          <p:nvPr/>
        </p:nvSpPr>
        <p:spPr>
          <a:xfrm>
            <a:off x="6418897" y="4993482"/>
            <a:ext cx="4381500" cy="952500"/>
          </a:xfrm>
          <a:prstGeom prst="rect">
            <a:avLst/>
          </a:prstGeom>
          <a:noFill/>
          <a:ln w="2858">
            <a:solidFill>
              <a:srgbClr val="333333">
                <a:alpha val="10000"/>
              </a:srgbClr>
            </a:solidFill>
          </a:ln>
        </p:spPr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97D00BC7-24F3-B7C6-4C95-E899482B89F9}"/>
              </a:ext>
            </a:extLst>
          </p:cNvPr>
          <p:cNvSpPr/>
          <p:nvPr/>
        </p:nvSpPr>
        <p:spPr>
          <a:xfrm>
            <a:off x="6418897" y="4993482"/>
            <a:ext cx="4162425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ED83C4DB-B85D-C162-A1FD-AFB4C7F4504C}"/>
              </a:ext>
            </a:extLst>
          </p:cNvPr>
          <p:cNvSpPr/>
          <p:nvPr/>
        </p:nvSpPr>
        <p:spPr>
          <a:xfrm>
            <a:off x="10581322" y="4993482"/>
            <a:ext cx="219075" cy="952500"/>
          </a:xfrm>
          <a:prstGeom prst="rect">
            <a:avLst/>
          </a:prstGeom>
          <a:solidFill>
            <a:srgbClr val="333333">
              <a:alpha val="8000"/>
            </a:srgbClr>
          </a:solidFill>
          <a:ln>
            <a:noFill/>
          </a:ln>
        </p:spPr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DB16F7AF-C66C-5A01-FE02-B18E5FE039B5}"/>
              </a:ext>
            </a:extLst>
          </p:cNvPr>
          <p:cNvSpPr txBox="1"/>
          <p:nvPr/>
        </p:nvSpPr>
        <p:spPr>
          <a:xfrm>
            <a:off x="8079819" y="6103144"/>
            <a:ext cx="10596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33333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白空间 95% : 内容 5%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6760" y="253746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6280" y="3040380"/>
            <a:ext cx="251002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Fukasawa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045" y="37271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D2D2D">
                    <a:alpha val="45000"/>
                  </a:srgbClr>
                </a:solidFill>
                <a:latin typeface="Arial"/>
                <a:ea typeface="Microsoft YaHei"/>
                <a:cs typeface="Arial"/>
              </a:rPr>
              <a:t>无意识设计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618" y="42571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2D2D">
                    <a:alpha val="25000"/>
                  </a:srgbClr>
                </a:solidFill>
                <a:latin typeface="Arial"/>
                <a:ea typeface="Microsoft YaHei"/>
                <a:cs typeface="Arial"/>
              </a:rPr>
              <a:t>东方哲学流派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46491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Without Thought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73980" y="6379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D87945A6-89B9-1CD7-69F8-FF93B19B10BE}"/>
              </a:ext>
            </a:extLst>
          </p:cNvPr>
          <p:cNvSpPr/>
          <p:nvPr/>
        </p:nvSpPr>
        <p:spPr>
          <a:xfrm>
            <a:off x="571500" y="381000"/>
            <a:ext cx="1905000" cy="114300"/>
          </a:xfrm>
          <a:custGeom>
            <a:avLst/>
            <a:gdLst/>
            <a:ahLst/>
            <a:cxnLst/>
            <a:rect l="l" t="t" r="r" b="b"/>
            <a:pathLst>
              <a:path w="1905000" h="114300">
                <a:moveTo>
                  <a:pt x="19050" y="0"/>
                </a:moveTo>
                <a:lnTo>
                  <a:pt x="1885950" y="0"/>
                </a:lnTo>
                <a:cubicBezTo>
                  <a:pt x="1896471" y="0"/>
                  <a:pt x="1905000" y="8529"/>
                  <a:pt x="1905000" y="19050"/>
                </a:cubicBezTo>
                <a:lnTo>
                  <a:pt x="1905000" y="95250"/>
                </a:lnTo>
                <a:cubicBezTo>
                  <a:pt x="1905000" y="105771"/>
                  <a:pt x="1896471" y="114300"/>
                  <a:pt x="18859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69E8C3-B7CA-EAF5-BAED-E0747F814957}"/>
              </a:ext>
            </a:extLst>
          </p:cNvPr>
          <p:cNvSpPr/>
          <p:nvPr/>
        </p:nvSpPr>
        <p:spPr>
          <a:xfrm>
            <a:off x="571500" y="590550"/>
            <a:ext cx="1333500" cy="76200"/>
          </a:xfrm>
          <a:custGeom>
            <a:avLst/>
            <a:gdLst/>
            <a:ahLst/>
            <a:cxnLst/>
            <a:rect l="l" t="t" r="r" b="b"/>
            <a:pathLst>
              <a:path w="1333500" h="762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57150"/>
                </a:lnTo>
                <a:cubicBezTo>
                  <a:pt x="1333500" y="67671"/>
                  <a:pt x="1324971" y="76200"/>
                  <a:pt x="1314450" y="76200"/>
                </a:cubicBezTo>
                <a:lnTo>
                  <a:pt x="19050" y="76200"/>
                </a:lnTo>
                <a:cubicBezTo>
                  <a:pt x="8529" y="76200"/>
                  <a:pt x="0" y="67671"/>
                  <a:pt x="0" y="57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5B79A507-CE96-8AD5-B60F-22ADBAEBD9F1}"/>
              </a:ext>
            </a:extLst>
          </p:cNvPr>
          <p:cNvSpPr/>
          <p:nvPr/>
        </p:nvSpPr>
        <p:spPr>
          <a:xfrm>
            <a:off x="9715500" y="381000"/>
            <a:ext cx="1905000" cy="114300"/>
          </a:xfrm>
          <a:custGeom>
            <a:avLst/>
            <a:gdLst/>
            <a:ahLst/>
            <a:cxnLst/>
            <a:rect l="l" t="t" r="r" b="b"/>
            <a:pathLst>
              <a:path w="1905000" h="114300">
                <a:moveTo>
                  <a:pt x="19050" y="0"/>
                </a:moveTo>
                <a:lnTo>
                  <a:pt x="1885950" y="0"/>
                </a:lnTo>
                <a:cubicBezTo>
                  <a:pt x="1896471" y="0"/>
                  <a:pt x="1905000" y="8529"/>
                  <a:pt x="1905000" y="19050"/>
                </a:cubicBezTo>
                <a:lnTo>
                  <a:pt x="1905000" y="95250"/>
                </a:lnTo>
                <a:cubicBezTo>
                  <a:pt x="1905000" y="105771"/>
                  <a:pt x="1896471" y="114300"/>
                  <a:pt x="18859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8030BB8-CFFE-58AB-1FEC-0916A82A4F4C}"/>
              </a:ext>
            </a:extLst>
          </p:cNvPr>
          <p:cNvSpPr/>
          <p:nvPr/>
        </p:nvSpPr>
        <p:spPr>
          <a:xfrm>
            <a:off x="10287000" y="590550"/>
            <a:ext cx="1333500" cy="76200"/>
          </a:xfrm>
          <a:custGeom>
            <a:avLst/>
            <a:gdLst/>
            <a:ahLst/>
            <a:cxnLst/>
            <a:rect l="l" t="t" r="r" b="b"/>
            <a:pathLst>
              <a:path w="1333500" h="76200">
                <a:moveTo>
                  <a:pt x="19050" y="0"/>
                </a:moveTo>
                <a:lnTo>
                  <a:pt x="1314450" y="0"/>
                </a:lnTo>
                <a:cubicBezTo>
                  <a:pt x="1324971" y="0"/>
                  <a:pt x="1333500" y="8529"/>
                  <a:pt x="1333500" y="19050"/>
                </a:cubicBezTo>
                <a:lnTo>
                  <a:pt x="1333500" y="57150"/>
                </a:lnTo>
                <a:cubicBezTo>
                  <a:pt x="1333500" y="67671"/>
                  <a:pt x="1324971" y="76200"/>
                  <a:pt x="1314450" y="76200"/>
                </a:cubicBezTo>
                <a:lnTo>
                  <a:pt x="19050" y="76200"/>
                </a:lnTo>
                <a:cubicBezTo>
                  <a:pt x="8529" y="76200"/>
                  <a:pt x="0" y="67671"/>
                  <a:pt x="0" y="57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90B2F705-6FC5-71A9-67A3-CDA21BF5445B}"/>
              </a:ext>
            </a:extLst>
          </p:cNvPr>
          <p:cNvSpPr/>
          <p:nvPr/>
        </p:nvSpPr>
        <p:spPr>
          <a:xfrm>
            <a:off x="0" y="857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EEEE"/>
            </a:solidFill>
          </a:ln>
        </p:spPr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1BA281F7-AF86-86D9-50AD-057DD198A201}"/>
              </a:ext>
            </a:extLst>
          </p:cNvPr>
          <p:cNvSpPr/>
          <p:nvPr/>
        </p:nvSpPr>
        <p:spPr>
          <a:xfrm>
            <a:off x="571500" y="104775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38100" y="0"/>
                </a:moveTo>
                <a:lnTo>
                  <a:pt x="1676400" y="0"/>
                </a:lnTo>
                <a:cubicBezTo>
                  <a:pt x="1697442" y="0"/>
                  <a:pt x="1714500" y="17058"/>
                  <a:pt x="1714500" y="38100"/>
                </a:cubicBezTo>
                <a:lnTo>
                  <a:pt x="1714500" y="228600"/>
                </a:lnTo>
                <a:cubicBezTo>
                  <a:pt x="1714500" y="249642"/>
                  <a:pt x="1697442" y="266700"/>
                  <a:pt x="1676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1EE474BD-8413-6DBB-F662-693B4049C092}"/>
              </a:ext>
            </a:extLst>
          </p:cNvPr>
          <p:cNvSpPr/>
          <p:nvPr/>
        </p:nvSpPr>
        <p:spPr>
          <a:xfrm>
            <a:off x="571500" y="140970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38100" y="0"/>
                </a:moveTo>
                <a:lnTo>
                  <a:pt x="1676400" y="0"/>
                </a:lnTo>
                <a:cubicBezTo>
                  <a:pt x="1697442" y="0"/>
                  <a:pt x="1714500" y="17058"/>
                  <a:pt x="1714500" y="38100"/>
                </a:cubicBezTo>
                <a:lnTo>
                  <a:pt x="1714500" y="228600"/>
                </a:lnTo>
                <a:cubicBezTo>
                  <a:pt x="1714500" y="249642"/>
                  <a:pt x="1697442" y="266700"/>
                  <a:pt x="1676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DB9EDBF6-03E6-2ABD-AC76-E25B1E637DBA}"/>
              </a:ext>
            </a:extLst>
          </p:cNvPr>
          <p:cNvSpPr/>
          <p:nvPr/>
        </p:nvSpPr>
        <p:spPr>
          <a:xfrm>
            <a:off x="571500" y="177165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38100" y="0"/>
                </a:moveTo>
                <a:lnTo>
                  <a:pt x="1676400" y="0"/>
                </a:lnTo>
                <a:cubicBezTo>
                  <a:pt x="1697442" y="0"/>
                  <a:pt x="1714500" y="17058"/>
                  <a:pt x="1714500" y="38100"/>
                </a:cubicBezTo>
                <a:lnTo>
                  <a:pt x="1714500" y="228600"/>
                </a:lnTo>
                <a:cubicBezTo>
                  <a:pt x="1714500" y="249642"/>
                  <a:pt x="1697442" y="266700"/>
                  <a:pt x="1676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B09355A1-DCE9-A84A-BAA6-F181DFDC82BC}"/>
              </a:ext>
            </a:extLst>
          </p:cNvPr>
          <p:cNvSpPr/>
          <p:nvPr/>
        </p:nvSpPr>
        <p:spPr>
          <a:xfrm>
            <a:off x="571500" y="213360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38100" y="0"/>
                </a:moveTo>
                <a:lnTo>
                  <a:pt x="1676400" y="0"/>
                </a:lnTo>
                <a:cubicBezTo>
                  <a:pt x="1697442" y="0"/>
                  <a:pt x="1714500" y="17058"/>
                  <a:pt x="1714500" y="38100"/>
                </a:cubicBezTo>
                <a:lnTo>
                  <a:pt x="1714500" y="228600"/>
                </a:lnTo>
                <a:cubicBezTo>
                  <a:pt x="1714500" y="249642"/>
                  <a:pt x="1697442" y="266700"/>
                  <a:pt x="1676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6537BBA8-BF01-8D34-9FEA-538AB82AC302}"/>
              </a:ext>
            </a:extLst>
          </p:cNvPr>
          <p:cNvSpPr/>
          <p:nvPr/>
        </p:nvSpPr>
        <p:spPr>
          <a:xfrm>
            <a:off x="571500" y="60960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28575" y="0"/>
                </a:moveTo>
                <a:lnTo>
                  <a:pt x="733425" y="0"/>
                </a:lnTo>
                <a:cubicBezTo>
                  <a:pt x="749207" y="0"/>
                  <a:pt x="762000" y="12793"/>
                  <a:pt x="762000" y="28575"/>
                </a:cubicBezTo>
                <a:lnTo>
                  <a:pt x="762000" y="28575"/>
                </a:lnTo>
                <a:cubicBezTo>
                  <a:pt x="762000" y="44357"/>
                  <a:pt x="749207" y="57150"/>
                  <a:pt x="733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275966D9-3B35-421F-E937-E8912D5C4546}"/>
              </a:ext>
            </a:extLst>
          </p:cNvPr>
          <p:cNvSpPr/>
          <p:nvPr/>
        </p:nvSpPr>
        <p:spPr>
          <a:xfrm>
            <a:off x="1524000" y="6096000"/>
            <a:ext cx="1143000" cy="57150"/>
          </a:xfrm>
          <a:custGeom>
            <a:avLst/>
            <a:gdLst/>
            <a:ahLst/>
            <a:cxnLst/>
            <a:rect l="l" t="t" r="r" b="b"/>
            <a:pathLst>
              <a:path w="1143000" h="57150">
                <a:moveTo>
                  <a:pt x="28575" y="0"/>
                </a:moveTo>
                <a:lnTo>
                  <a:pt x="1114425" y="0"/>
                </a:lnTo>
                <a:cubicBezTo>
                  <a:pt x="1130207" y="0"/>
                  <a:pt x="1143000" y="12793"/>
                  <a:pt x="1143000" y="28575"/>
                </a:cubicBezTo>
                <a:lnTo>
                  <a:pt x="1143000" y="28575"/>
                </a:lnTo>
                <a:cubicBezTo>
                  <a:pt x="1143000" y="44357"/>
                  <a:pt x="1130207" y="57150"/>
                  <a:pt x="1114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0570" y="3600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90D9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1070" y="3600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东方哲学流派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9615" y="677228"/>
            <a:ext cx="40683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Fukasawa · 无意识设计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1280160"/>
            <a:ext cx="44470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>
                    <a:alpha val="55000"/>
                  </a:srgbClr>
                </a:solidFill>
                <a:latin typeface="Arial"/>
                <a:ea typeface="Microsoft YaHei"/>
                <a:cs typeface="Arial"/>
              </a:rPr>
              <a:t>"观众关注内容而非设计——不可见的匠心让一切毫不费力"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772602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自然到不被注意 · 隐形匠心 · 功能=美学 · 无设计的设计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7712" y="2355056"/>
            <a:ext cx="10061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2590800"/>
            <a:ext cx="4762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8665" y="2725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系统默认感的字体排印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9727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一致间距不引起注意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2204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完全没有装饰元素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4680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仅位置和大小建立信息层次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4069556"/>
            <a:ext cx="10061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305300"/>
            <a:ext cx="4762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8665" y="4439602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内部团队更新 · 项目评审 · 运营报告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1212" y="2355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905500" y="2590800"/>
            <a:ext cx="5334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92165" y="27441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隐形调色板：功能性颜色编码</a:t>
            </a:r>
          </a:p>
        </p:txBody>
      </p:sp>
      <p:sp>
        <p:nvSpPr>
          <p:cNvPr id="20" name="Freeform 20"/>
          <p:cNvSpPr/>
          <p:nvPr/>
        </p:nvSpPr>
        <p:spPr>
          <a:xfrm>
            <a:off x="59055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66700"/>
                </a:lnTo>
                <a:cubicBezTo>
                  <a:pt x="1333500" y="287742"/>
                  <a:pt x="1316442" y="304800"/>
                  <a:pt x="12954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981700" y="312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0"/>
                </a:moveTo>
                <a:lnTo>
                  <a:pt x="133350" y="0"/>
                </a:lnTo>
                <a:cubicBezTo>
                  <a:pt x="143871" y="0"/>
                  <a:pt x="152400" y="8529"/>
                  <a:pt x="152400" y="19050"/>
                </a:cubicBezTo>
                <a:lnTo>
                  <a:pt x="152400" y="133350"/>
                </a:lnTo>
                <a:cubicBezTo>
                  <a:pt x="152400" y="143871"/>
                  <a:pt x="143871" y="152400"/>
                  <a:pt x="133350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199822" y="3168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浅灰背景</a:t>
            </a:r>
          </a:p>
        </p:txBody>
      </p:sp>
      <p:sp>
        <p:nvSpPr>
          <p:cNvPr id="23" name="Freeform 23"/>
          <p:cNvSpPr/>
          <p:nvPr/>
        </p:nvSpPr>
        <p:spPr>
          <a:xfrm>
            <a:off x="73533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66700"/>
                </a:lnTo>
                <a:cubicBezTo>
                  <a:pt x="1333500" y="287742"/>
                  <a:pt x="1316442" y="304800"/>
                  <a:pt x="12954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7429500" y="312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0"/>
                </a:moveTo>
                <a:lnTo>
                  <a:pt x="133350" y="0"/>
                </a:lnTo>
                <a:cubicBezTo>
                  <a:pt x="143871" y="0"/>
                  <a:pt x="152400" y="8529"/>
                  <a:pt x="152400" y="19050"/>
                </a:cubicBezTo>
                <a:lnTo>
                  <a:pt x="152400" y="133350"/>
                </a:lnTo>
                <a:cubicBezTo>
                  <a:pt x="152400" y="143871"/>
                  <a:pt x="143871" y="152400"/>
                  <a:pt x="133350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647622" y="3168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深灰文字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011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66700"/>
                </a:lnTo>
                <a:cubicBezTo>
                  <a:pt x="1333500" y="287742"/>
                  <a:pt x="1316442" y="304800"/>
                  <a:pt x="12954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877300" y="312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0"/>
                </a:moveTo>
                <a:lnTo>
                  <a:pt x="133350" y="0"/>
                </a:lnTo>
                <a:cubicBezTo>
                  <a:pt x="143871" y="0"/>
                  <a:pt x="152400" y="8529"/>
                  <a:pt x="152400" y="19050"/>
                </a:cubicBezTo>
                <a:lnTo>
                  <a:pt x="152400" y="133350"/>
                </a:lnTo>
                <a:cubicBezTo>
                  <a:pt x="152400" y="143871"/>
                  <a:pt x="143871" y="152400"/>
                  <a:pt x="133350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95422" y="3168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功能蓝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93118" y="3609499"/>
            <a:ext cx="16267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蓝=链接 绿=正面 红=警报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91212" y="40695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代表作品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905500" y="4305300"/>
            <a:ext cx="5334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892165" y="4439602"/>
            <a:ext cx="2863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Naoto Fukasawa 产品设计 · ±0 品牌设计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5220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8260" y="5204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8368" y="5228749"/>
            <a:ext cx="1904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"无设计的设计"——适用于一切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73980" y="64750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62000" y="2667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0" y="0"/>
                </a:moveTo>
                <a:lnTo>
                  <a:pt x="419100" y="0"/>
                </a:lnTo>
                <a:cubicBezTo>
                  <a:pt x="482226" y="0"/>
                  <a:pt x="533400" y="51174"/>
                  <a:pt x="533400" y="114300"/>
                </a:cubicBezTo>
                <a:lnTo>
                  <a:pt x="533400" y="419100"/>
                </a:lnTo>
                <a:cubicBezTo>
                  <a:pt x="533400" y="482226"/>
                  <a:pt x="482226" y="533400"/>
                  <a:pt x="419100" y="533400"/>
                </a:cubicBezTo>
                <a:lnTo>
                  <a:pt x="114300" y="533400"/>
                </a:lnTo>
                <a:cubicBezTo>
                  <a:pt x="51174" y="533400"/>
                  <a:pt x="0" y="482226"/>
                  <a:pt x="0" y="419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88525" y="2825115"/>
            <a:ext cx="2803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3040" y="2510790"/>
            <a:ext cx="291907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Meituan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5425" y="33766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0000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阳光活力</a:t>
            </a:r>
          </a:p>
        </p:txBody>
      </p:sp>
      <p:sp>
        <p:nvSpPr>
          <p:cNvPr id="8" name="Freeform 8"/>
          <p:cNvSpPr/>
          <p:nvPr/>
        </p:nvSpPr>
        <p:spPr>
          <a:xfrm>
            <a:off x="1524000" y="38100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190500"/>
                </a:lnTo>
                <a:cubicBezTo>
                  <a:pt x="1524000" y="232584"/>
                  <a:pt x="1489884" y="266700"/>
                  <a:pt x="1447800" y="266700"/>
                </a:cubicBezTo>
                <a:lnTo>
                  <a:pt x="76200" y="266700"/>
                </a:lnTo>
                <a:cubicBezTo>
                  <a:pt x="34116" y="266700"/>
                  <a:pt x="0" y="232584"/>
                  <a:pt x="0" y="190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2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46421" y="3895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0000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品牌原生流派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0665" y="4458652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>
                    <a:alpha val="20000"/>
                  </a:srgbClr>
                </a:solidFill>
                <a:latin typeface="Arial"/>
                <a:ea typeface="Microsoft YaHei"/>
                <a:cs typeface="Arial"/>
              </a:rPr>
              <a:t>SUNSHINE VITALITY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34500" y="1936750"/>
            <a:ext cx="381000" cy="444500"/>
          </a:xfrm>
          <a:custGeom>
            <a:avLst/>
            <a:gdLst/>
            <a:ahLst/>
            <a:cxnLst/>
            <a:rect l="l" t="t" r="r" b="b"/>
            <a:pathLst>
              <a:path w="381000" h="444500">
                <a:moveTo>
                  <a:pt x="0" y="444500"/>
                </a:moveTo>
                <a:cubicBezTo>
                  <a:pt x="127000" y="0"/>
                  <a:pt x="254000" y="0"/>
                  <a:pt x="381000" y="444500"/>
                </a:cubicBezTo>
              </a:path>
            </a:pathLst>
          </a:custGeom>
          <a:noFill/>
          <a:ln w="28575">
            <a:solidFill>
              <a:srgbClr val="FFD100">
                <a:alpha val="15000"/>
              </a:srgbClr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10001250" y="1936750"/>
            <a:ext cx="381000" cy="444500"/>
          </a:xfrm>
          <a:custGeom>
            <a:avLst/>
            <a:gdLst/>
            <a:ahLst/>
            <a:cxnLst/>
            <a:rect l="l" t="t" r="r" b="b"/>
            <a:pathLst>
              <a:path w="381000" h="444500">
                <a:moveTo>
                  <a:pt x="0" y="444500"/>
                </a:moveTo>
                <a:cubicBezTo>
                  <a:pt x="127000" y="0"/>
                  <a:pt x="254000" y="0"/>
                  <a:pt x="381000" y="444500"/>
                </a:cubicBezTo>
              </a:path>
            </a:pathLst>
          </a:custGeom>
          <a:noFill/>
          <a:ln w="28575">
            <a:solidFill>
              <a:srgbClr val="FFD100">
                <a:alpha val="15000"/>
              </a:srgbClr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9144000" y="266700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304800" y="0"/>
                </a:moveTo>
                <a:lnTo>
                  <a:pt x="1123950" y="0"/>
                </a:lnTo>
                <a:cubicBezTo>
                  <a:pt x="1292286" y="0"/>
                  <a:pt x="1428750" y="136464"/>
                  <a:pt x="1428750" y="304800"/>
                </a:cubicBezTo>
                <a:lnTo>
                  <a:pt x="1428750" y="1123950"/>
                </a:lnTo>
                <a:cubicBezTo>
                  <a:pt x="1428750" y="1292286"/>
                  <a:pt x="1292286" y="1428750"/>
                  <a:pt x="1123950" y="1428750"/>
                </a:cubicBezTo>
                <a:lnTo>
                  <a:pt x="304800" y="1428750"/>
                </a:lnTo>
                <a:cubicBezTo>
                  <a:pt x="136464" y="1428750"/>
                  <a:pt x="0" y="1292286"/>
                  <a:pt x="0" y="1123950"/>
                </a:cubicBezTo>
                <a:lnTo>
                  <a:pt x="0" y="304800"/>
                </a:lnTo>
                <a:cubicBezTo>
                  <a:pt x="0" y="136464"/>
                  <a:pt x="136464" y="0"/>
                  <a:pt x="304800" y="0"/>
                </a:cubicBezTo>
                <a:close/>
              </a:path>
            </a:pathLst>
          </a:custGeom>
          <a:solidFill>
            <a:srgbClr val="FFD100">
              <a:alpha val="6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6572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0"/>
                </a:moveTo>
                <a:lnTo>
                  <a:pt x="171450" y="0"/>
                </a:lnTo>
                <a:cubicBezTo>
                  <a:pt x="203013" y="0"/>
                  <a:pt x="228600" y="25587"/>
                  <a:pt x="228600" y="57150"/>
                </a:cubicBezTo>
                <a:lnTo>
                  <a:pt x="228600" y="171450"/>
                </a:lnTo>
                <a:cubicBezTo>
                  <a:pt x="228600" y="203013"/>
                  <a:pt x="203013" y="228600"/>
                  <a:pt x="171450" y="228600"/>
                </a:cubicBezTo>
                <a:lnTo>
                  <a:pt x="57150" y="228600"/>
                </a:lnTo>
                <a:cubicBezTo>
                  <a:pt x="25587" y="228600"/>
                  <a:pt x="0" y="203013"/>
                  <a:pt x="0" y="171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63918" y="66384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美团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842" y="66465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62000" y="285750"/>
            <a:ext cx="342900" cy="209550"/>
          </a:xfrm>
          <a:custGeom>
            <a:avLst/>
            <a:gdLst/>
            <a:ahLst/>
            <a:cxnLst/>
            <a:rect l="l" t="t" r="r" b="b"/>
            <a:pathLst>
              <a:path w="342900" h="20955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152400"/>
                </a:lnTo>
                <a:cubicBezTo>
                  <a:pt x="342900" y="183963"/>
                  <a:pt x="317313" y="209550"/>
                  <a:pt x="285750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63363" y="340995"/>
            <a:ext cx="140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8720" y="3409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品牌原生流派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805" y="692468"/>
            <a:ext cx="398402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Meituan · 阳光活力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143000"/>
            <a:ext cx="762000" cy="28575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4855" y="1425892"/>
            <a:ext cx="30115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0000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"美团黄如阳光般散发温暖和自信"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1809750"/>
            <a:ext cx="1047750" cy="285750"/>
          </a:xfrm>
          <a:custGeom>
            <a:avLst/>
            <a:gdLst/>
            <a:ahLst/>
            <a:cxnLst/>
            <a:rect l="l" t="t" r="r" b="b"/>
            <a:pathLst>
              <a:path w="1047750" h="285750">
                <a:moveTo>
                  <a:pt x="76200" y="0"/>
                </a:moveTo>
                <a:lnTo>
                  <a:pt x="971550" y="0"/>
                </a:lnTo>
                <a:cubicBezTo>
                  <a:pt x="1013634" y="0"/>
                  <a:pt x="1047750" y="34116"/>
                  <a:pt x="1047750" y="76200"/>
                </a:cubicBezTo>
                <a:lnTo>
                  <a:pt x="1047750" y="209550"/>
                </a:lnTo>
                <a:cubicBezTo>
                  <a:pt x="1047750" y="251634"/>
                  <a:pt x="1013634" y="285750"/>
                  <a:pt x="97155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8695" y="189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0000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品牌原生</a:t>
            </a:r>
          </a:p>
        </p:txBody>
      </p:sp>
      <p:sp>
        <p:nvSpPr>
          <p:cNvPr id="12" name="Freeform 12"/>
          <p:cNvSpPr/>
          <p:nvPr/>
        </p:nvSpPr>
        <p:spPr>
          <a:xfrm>
            <a:off x="1905000" y="1809750"/>
            <a:ext cx="1047750" cy="285750"/>
          </a:xfrm>
          <a:custGeom>
            <a:avLst/>
            <a:gdLst/>
            <a:ahLst/>
            <a:cxnLst/>
            <a:rect l="l" t="t" r="r" b="b"/>
            <a:pathLst>
              <a:path w="1047750" h="285750">
                <a:moveTo>
                  <a:pt x="76200" y="0"/>
                </a:moveTo>
                <a:lnTo>
                  <a:pt x="971550" y="0"/>
                </a:lnTo>
                <a:cubicBezTo>
                  <a:pt x="1013634" y="0"/>
                  <a:pt x="1047750" y="34116"/>
                  <a:pt x="1047750" y="76200"/>
                </a:cubicBezTo>
                <a:lnTo>
                  <a:pt x="1047750" y="209550"/>
                </a:lnTo>
                <a:cubicBezTo>
                  <a:pt x="1047750" y="251634"/>
                  <a:pt x="1013634" y="285750"/>
                  <a:pt x="97155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31695" y="189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0000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阳光温暖</a:t>
            </a:r>
          </a:p>
        </p:txBody>
      </p:sp>
      <p:sp>
        <p:nvSpPr>
          <p:cNvPr id="14" name="Freeform 14"/>
          <p:cNvSpPr/>
          <p:nvPr/>
        </p:nvSpPr>
        <p:spPr>
          <a:xfrm>
            <a:off x="3048000" y="1809750"/>
            <a:ext cx="1047750" cy="285750"/>
          </a:xfrm>
          <a:custGeom>
            <a:avLst/>
            <a:gdLst/>
            <a:ahLst/>
            <a:cxnLst/>
            <a:rect l="l" t="t" r="r" b="b"/>
            <a:pathLst>
              <a:path w="1047750" h="285750">
                <a:moveTo>
                  <a:pt x="76200" y="0"/>
                </a:moveTo>
                <a:lnTo>
                  <a:pt x="971550" y="0"/>
                </a:lnTo>
                <a:cubicBezTo>
                  <a:pt x="1013634" y="0"/>
                  <a:pt x="1047750" y="34116"/>
                  <a:pt x="1047750" y="76200"/>
                </a:cubicBezTo>
                <a:lnTo>
                  <a:pt x="1047750" y="209550"/>
                </a:lnTo>
                <a:cubicBezTo>
                  <a:pt x="1047750" y="251634"/>
                  <a:pt x="1013634" y="285750"/>
                  <a:pt x="97155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274695" y="189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0000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圆角亲和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1809750"/>
            <a:ext cx="1047750" cy="285750"/>
          </a:xfrm>
          <a:custGeom>
            <a:avLst/>
            <a:gdLst/>
            <a:ahLst/>
            <a:cxnLst/>
            <a:rect l="l" t="t" r="r" b="b"/>
            <a:pathLst>
              <a:path w="1047750" h="285750">
                <a:moveTo>
                  <a:pt x="76200" y="0"/>
                </a:moveTo>
                <a:lnTo>
                  <a:pt x="971550" y="0"/>
                </a:lnTo>
                <a:cubicBezTo>
                  <a:pt x="1013634" y="0"/>
                  <a:pt x="1047750" y="34116"/>
                  <a:pt x="1047750" y="76200"/>
                </a:cubicBezTo>
                <a:lnTo>
                  <a:pt x="1047750" y="209550"/>
                </a:lnTo>
                <a:cubicBezTo>
                  <a:pt x="1047750" y="251634"/>
                  <a:pt x="1013634" y="285750"/>
                  <a:pt x="97155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17695" y="189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0000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年轻乐观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2497931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SVG 转化特征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279177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白色背景为默认，黄色少量强调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8665" y="3039428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圆角矩形 rx=12-16 呼应 App 图标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8665" y="328707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品牌条 + App 图标置于底部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5347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袋鼠耳朵可作微妙水印/分隔</a:t>
            </a:r>
          </a:p>
        </p:txBody>
      </p:sp>
      <p:sp>
        <p:nvSpPr>
          <p:cNvPr id="23" name="Freeform 23"/>
          <p:cNvSpPr/>
          <p:nvPr/>
        </p:nvSpPr>
        <p:spPr>
          <a:xfrm>
            <a:off x="5905500" y="23812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1752600"/>
                </a:lnTo>
                <a:cubicBezTo>
                  <a:pt x="5334000" y="1836768"/>
                  <a:pt x="5265768" y="1905000"/>
                  <a:pt x="518160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83618" y="25617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品牌元素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285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6026" y="0"/>
                  <a:pt x="457200" y="51174"/>
                  <a:pt x="457200" y="114300"/>
                </a:cubicBezTo>
                <a:lnTo>
                  <a:pt x="457200" y="342900"/>
                </a:lnTo>
                <a:cubicBezTo>
                  <a:pt x="457200" y="406026"/>
                  <a:pt x="406026" y="457200"/>
                  <a:pt x="342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21255" y="3048952"/>
            <a:ext cx="1876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46570" y="3046095"/>
            <a:ext cx="542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App 图标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342900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0" y="190500"/>
                </a:moveTo>
                <a:cubicBezTo>
                  <a:pt x="95250" y="0"/>
                  <a:pt x="190500" y="0"/>
                  <a:pt x="285750" y="190500"/>
                </a:cubicBezTo>
              </a:path>
            </a:pathLst>
          </a:custGeom>
          <a:noFill/>
          <a:ln w="23812">
            <a:solidFill>
              <a:srgbClr val="FFD100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667500" y="342900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0" y="190500"/>
                </a:moveTo>
                <a:cubicBezTo>
                  <a:pt x="95250" y="0"/>
                  <a:pt x="190500" y="0"/>
                  <a:pt x="285750" y="190500"/>
                </a:cubicBezTo>
              </a:path>
            </a:pathLst>
          </a:custGeom>
          <a:noFill/>
          <a:ln w="23812">
            <a:solidFill>
              <a:srgbClr val="FFD1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32320" y="3522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袋鼠耳朵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76022" y="3959066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41E3A">
                    <a:alpha val="60000"/>
                  </a:srgbClr>
                </a:solidFill>
                <a:latin typeface="Arial"/>
                <a:ea typeface="Microsoft YaHei"/>
                <a:cs typeface="Arial"/>
              </a:rPr>
              <a:t>⚠ 禁止：白底黄字 / 黄底白logo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0118" y="2752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美团体特征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61070" y="2998470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撇捺斜切 → 前进感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61070" y="323659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对称圆角 → 亲和力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61070" y="3474720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重心提高 → 年轻感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712" y="4450556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PPT 最佳用途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4744402"/>
            <a:ext cx="37761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美团内部演示 · 业务复盘 · 团队会议 · 合作伙伴幻灯片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7712" y="5212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色彩策略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8665" y="54873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白色为主 + 黄色事件</a:t>
            </a:r>
          </a:p>
        </p:txBody>
      </p:sp>
      <p:sp>
        <p:nvSpPr>
          <p:cNvPr id="40" name="Freeform 40"/>
          <p:cNvSpPr/>
          <p:nvPr/>
        </p:nvSpPr>
        <p:spPr>
          <a:xfrm>
            <a:off x="762000" y="576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0" y="0"/>
                </a:moveTo>
                <a:lnTo>
                  <a:pt x="209550" y="0"/>
                </a:lnTo>
                <a:cubicBezTo>
                  <a:pt x="241113" y="0"/>
                  <a:pt x="266700" y="25587"/>
                  <a:pt x="266700" y="57150"/>
                </a:cubicBezTo>
                <a:lnTo>
                  <a:pt x="266700" y="209550"/>
                </a:lnTo>
                <a:cubicBezTo>
                  <a:pt x="266700" y="241113"/>
                  <a:pt x="241113" y="266700"/>
                  <a:pt x="2095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1" name="Freeform 41"/>
          <p:cNvSpPr/>
          <p:nvPr/>
        </p:nvSpPr>
        <p:spPr>
          <a:xfrm>
            <a:off x="1123950" y="576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0" y="0"/>
                </a:moveTo>
                <a:lnTo>
                  <a:pt x="209550" y="0"/>
                </a:lnTo>
                <a:cubicBezTo>
                  <a:pt x="241113" y="0"/>
                  <a:pt x="266700" y="25587"/>
                  <a:pt x="266700" y="57150"/>
                </a:cubicBezTo>
                <a:lnTo>
                  <a:pt x="266700" y="209550"/>
                </a:lnTo>
                <a:cubicBezTo>
                  <a:pt x="266700" y="241113"/>
                  <a:pt x="241113" y="266700"/>
                  <a:pt x="2095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1485900" y="576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0" y="0"/>
                </a:moveTo>
                <a:lnTo>
                  <a:pt x="209550" y="0"/>
                </a:lnTo>
                <a:cubicBezTo>
                  <a:pt x="241113" y="0"/>
                  <a:pt x="266700" y="25587"/>
                  <a:pt x="266700" y="57150"/>
                </a:cubicBezTo>
                <a:lnTo>
                  <a:pt x="266700" y="209550"/>
                </a:lnTo>
                <a:cubicBezTo>
                  <a:pt x="266700" y="241113"/>
                  <a:pt x="241113" y="266700"/>
                  <a:pt x="2095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1847850" y="576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0" y="0"/>
                </a:moveTo>
                <a:lnTo>
                  <a:pt x="209550" y="0"/>
                </a:lnTo>
                <a:cubicBezTo>
                  <a:pt x="241113" y="0"/>
                  <a:pt x="266700" y="25587"/>
                  <a:pt x="266700" y="57150"/>
                </a:cubicBezTo>
                <a:lnTo>
                  <a:pt x="266700" y="209550"/>
                </a:lnTo>
                <a:cubicBezTo>
                  <a:pt x="266700" y="241113"/>
                  <a:pt x="241113" y="266700"/>
                  <a:pt x="2095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892165" y="445865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适配性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1760" y="44424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800"/>
                </a:solidFill>
                <a:latin typeface="Arial"/>
                <a:ea typeface="Microsoft YaHei"/>
                <a:cs typeface="Arial"/>
              </a:rPr>
              <a:t>★★★★☆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21868" y="4466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BBBBB"/>
                </a:solidFill>
                <a:latin typeface="Arial"/>
                <a:ea typeface="Microsoft YaHei"/>
                <a:cs typeface="Arial"/>
              </a:rPr>
              <a:t>美团场景辨识度极高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571500" y="6572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57150" y="0"/>
                </a:moveTo>
                <a:lnTo>
                  <a:pt x="152400" y="0"/>
                </a:lnTo>
                <a:cubicBezTo>
                  <a:pt x="183963" y="0"/>
                  <a:pt x="209550" y="25587"/>
                  <a:pt x="209550" y="57150"/>
                </a:cubicBezTo>
                <a:lnTo>
                  <a:pt x="209550" y="152400"/>
                </a:lnTo>
                <a:cubicBezTo>
                  <a:pt x="209550" y="183963"/>
                  <a:pt x="183963" y="209550"/>
                  <a:pt x="152400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45820" y="66274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>
                    <a:alpha val="35000"/>
                  </a:srgbClr>
                </a:solidFill>
                <a:latin typeface="Arial"/>
                <a:ea typeface="Microsoft YaHei"/>
                <a:cs typeface="Arial"/>
              </a:rPr>
              <a:t>美团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3980" y="66274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51816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如何选择你的设计哲学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005050"/>
            <a:ext cx="1143000" cy="28575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228399"/>
            <a:ext cx="3429000" cy="381000"/>
          </a:xfrm>
          <a:custGeom>
            <a:avLst/>
            <a:gdLst/>
            <a:ahLst/>
            <a:cxnLst/>
            <a:rect l="l" t="t" r="r" b="b"/>
            <a:pathLst>
              <a:path w="3429000" h="381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304800"/>
                </a:lnTo>
                <a:cubicBezTo>
                  <a:pt x="3429000" y="346884"/>
                  <a:pt x="3394884" y="381000"/>
                  <a:pt x="335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030909" y="1354605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按受众选择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118" y="1751798"/>
            <a:ext cx="944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高管 / 董事会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1070" y="1950394"/>
            <a:ext cx="1987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Pentagram · Build · Kenya Hara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2266148"/>
            <a:ext cx="13928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数据分析师 / 工程师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070" y="2464744"/>
            <a:ext cx="2290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Fathom · Tufte · Müller-Brockmann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0118" y="2780498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客户 / 外部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070" y="2979094"/>
            <a:ext cx="15147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Apple · Notion · Takram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118" y="3294848"/>
            <a:ext cx="1093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创意 / 设计团队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070" y="3493444"/>
            <a:ext cx="2204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Sagmeister · Olschinsky · Field.io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118" y="3809198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通用 / 内部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070" y="4007794"/>
            <a:ext cx="17907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Fukasawa · Notion · Fathom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118" y="4323548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美团内部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070" y="4522144"/>
            <a:ext cx="21062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Meituan · Fukasawa · Pentagram</a:t>
            </a:r>
          </a:p>
        </p:txBody>
      </p:sp>
      <p:sp>
        <p:nvSpPr>
          <p:cNvPr id="20" name="Freeform 20"/>
          <p:cNvSpPr/>
          <p:nvPr/>
        </p:nvSpPr>
        <p:spPr>
          <a:xfrm>
            <a:off x="4381500" y="1228399"/>
            <a:ext cx="3429000" cy="381000"/>
          </a:xfrm>
          <a:custGeom>
            <a:avLst/>
            <a:gdLst/>
            <a:ahLst/>
            <a:cxnLst/>
            <a:rect l="l" t="t" r="r" b="b"/>
            <a:pathLst>
              <a:path w="3429000" h="381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304800"/>
                </a:lnTo>
                <a:cubicBezTo>
                  <a:pt x="3429000" y="346884"/>
                  <a:pt x="3394884" y="381000"/>
                  <a:pt x="335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477887" y="1354605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按内容类型选择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9618" y="1751798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数据密集报告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60570" y="1950394"/>
            <a:ext cx="2290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Fathom · Tufte · Müller-Brockmann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618" y="2266148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产品发布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0570" y="2464744"/>
            <a:ext cx="20799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Apple · Field.io · Build · Meituan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9618" y="2780498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战略 / 愿景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0570" y="2979094"/>
            <a:ext cx="21522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Pentagram · Takram · Kenya Hara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9618" y="3294848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培训 / 教育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0570" y="3493444"/>
            <a:ext cx="24743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Notion · Fukasawa · Müller-Brockmann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9618" y="3809198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品牌 / 创意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0570" y="4007794"/>
            <a:ext cx="2553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Sagmeister · Olschinsky · Instrumental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9618" y="4323548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美团业务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60570" y="4522144"/>
            <a:ext cx="21062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Meituan · Pentagram · Fukasawa</a:t>
            </a:r>
          </a:p>
        </p:txBody>
      </p:sp>
      <p:sp>
        <p:nvSpPr>
          <p:cNvPr id="34" name="Freeform 34"/>
          <p:cNvSpPr/>
          <p:nvPr/>
        </p:nvSpPr>
        <p:spPr>
          <a:xfrm>
            <a:off x="8001000" y="1228399"/>
            <a:ext cx="3429000" cy="381000"/>
          </a:xfrm>
          <a:custGeom>
            <a:avLst/>
            <a:gdLst/>
            <a:ahLst/>
            <a:cxnLst/>
            <a:rect l="l" t="t" r="r" b="b"/>
            <a:pathLst>
              <a:path w="3429000" h="381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304800"/>
                </a:lnTo>
                <a:cubicBezTo>
                  <a:pt x="3429000" y="346884"/>
                  <a:pt x="3394884" y="381000"/>
                  <a:pt x="335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D100">
              <a:alpha val="12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269909" y="1354605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按风格映射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9118" y="1751798"/>
            <a:ext cx="914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通用灵活 (A)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80070" y="1950394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Apple · Notion · Sagmeister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80070" y="2140894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Field.io · Meituan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79118" y="2489033"/>
            <a:ext cx="914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通用咨询 (B)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80070" y="2687629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Fathom · Müller-Brockmann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80070" y="2878129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Fukasawa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9118" y="3268835"/>
            <a:ext cx="914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顶级咨询 (C)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80070" y="3467431"/>
            <a:ext cx="16593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Pentagram · Tufte · Build</a:t>
            </a:r>
          </a:p>
        </p:txBody>
      </p:sp>
      <p:sp>
        <p:nvSpPr>
          <p:cNvPr id="44" name="Freeform 44"/>
          <p:cNvSpPr/>
          <p:nvPr/>
        </p:nvSpPr>
        <p:spPr>
          <a:xfrm>
            <a:off x="762000" y="5238750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114300" y="0"/>
                </a:moveTo>
                <a:lnTo>
                  <a:pt x="10553700" y="0"/>
                </a:lnTo>
                <a:cubicBezTo>
                  <a:pt x="10616826" y="0"/>
                  <a:pt x="10668000" y="51174"/>
                  <a:pt x="10668000" y="114300"/>
                </a:cubicBezTo>
                <a:lnTo>
                  <a:pt x="10668000" y="647700"/>
                </a:lnTo>
                <a:cubicBezTo>
                  <a:pt x="10668000" y="710826"/>
                  <a:pt x="10616826" y="762000"/>
                  <a:pt x="10553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45605" y="5387947"/>
            <a:ext cx="2832507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15 种哲学，找到你的那一种。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5605" y="5698397"/>
            <a:ext cx="4578176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050" dirty="0">
                <a:solidFill>
                  <a:srgbClr val="000000">
                    <a:alpha val="45000"/>
                  </a:srgbClr>
                </a:solidFill>
                <a:latin typeface="Arial"/>
                <a:ea typeface="Microsoft YaHei"/>
                <a:cs typeface="Arial"/>
              </a:rPr>
              <a:t>没有最好的设计，只有最适合的设计。选择与你的受众和内容最契合的哲学。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571500" y="6572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57150" y="0"/>
                </a:moveTo>
                <a:lnTo>
                  <a:pt x="152400" y="0"/>
                </a:lnTo>
                <a:cubicBezTo>
                  <a:pt x="183963" y="0"/>
                  <a:pt x="209550" y="25587"/>
                  <a:pt x="209550" y="57150"/>
                </a:cubicBezTo>
                <a:lnTo>
                  <a:pt x="209550" y="152400"/>
                </a:lnTo>
                <a:cubicBezTo>
                  <a:pt x="209550" y="183963"/>
                  <a:pt x="183963" y="209550"/>
                  <a:pt x="152400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D1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45820" y="6627495"/>
            <a:ext cx="16856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>
                    <a:alpha val="35000"/>
                  </a:srgbClr>
                </a:solidFill>
                <a:latin typeface="Arial"/>
                <a:ea typeface="Microsoft YaHei"/>
                <a:cs typeface="Arial"/>
              </a:rPr>
              <a:t>PPT 大师 · mu-ppt-master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3980" y="66274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CCCCC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93C5DA3C-D284-7669-D77D-6E67EFECBC46}"/>
              </a:ext>
            </a:extLst>
          </p:cNvPr>
          <p:cNvGrpSpPr/>
          <p:nvPr/>
        </p:nvGrpSpPr>
        <p:grpSpPr>
          <a:xfrm>
            <a:off x="8011611" y="4013359"/>
            <a:ext cx="2825116" cy="2289810"/>
            <a:chOff x="835342" y="1089184"/>
            <a:chExt cx="2825116" cy="2289810"/>
          </a:xfrm>
        </p:grpSpPr>
        <p:sp>
          <p:nvSpPr>
            <p:cNvPr id="81" name="Polygon 6">
              <a:extLst>
                <a:ext uri="{FF2B5EF4-FFF2-40B4-BE49-F238E27FC236}">
                  <a16:creationId xmlns:a16="http://schemas.microsoft.com/office/drawing/2014/main" id="{EF80A3B8-96E4-869D-437F-55CAA181D653}"/>
                </a:ext>
              </a:extLst>
            </p:cNvPr>
            <p:cNvSpPr/>
            <p:nvPr/>
          </p:nvSpPr>
          <p:spPr>
            <a:xfrm>
              <a:off x="1428750" y="1238250"/>
              <a:ext cx="1714500" cy="1905000"/>
            </a:xfrm>
            <a:custGeom>
              <a:avLst/>
              <a:gdLst/>
              <a:ahLst/>
              <a:cxnLst/>
              <a:rect l="l" t="t" r="r" b="b"/>
              <a:pathLst>
                <a:path w="1714500" h="1905000">
                  <a:moveTo>
                    <a:pt x="857250" y="0"/>
                  </a:moveTo>
                  <a:lnTo>
                    <a:pt x="1714500" y="476250"/>
                  </a:lnTo>
                  <a:lnTo>
                    <a:pt x="1714500" y="1428750"/>
                  </a:lnTo>
                  <a:lnTo>
                    <a:pt x="857250" y="1905000"/>
                  </a:lnTo>
                  <a:lnTo>
                    <a:pt x="0" y="142875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82" name="Polygon 7">
              <a:extLst>
                <a:ext uri="{FF2B5EF4-FFF2-40B4-BE49-F238E27FC236}">
                  <a16:creationId xmlns:a16="http://schemas.microsoft.com/office/drawing/2014/main" id="{DE9D3788-7A54-B1B0-6DA0-40841F13A6CB}"/>
                </a:ext>
              </a:extLst>
            </p:cNvPr>
            <p:cNvSpPr/>
            <p:nvPr/>
          </p:nvSpPr>
          <p:spPr>
            <a:xfrm>
              <a:off x="1714500" y="1524000"/>
              <a:ext cx="1143000" cy="1238250"/>
            </a:xfrm>
            <a:custGeom>
              <a:avLst/>
              <a:gdLst/>
              <a:ahLst/>
              <a:cxnLst/>
              <a:rect l="l" t="t" r="r" b="b"/>
              <a:pathLst>
                <a:path w="1143000" h="1238250">
                  <a:moveTo>
                    <a:pt x="571500" y="0"/>
                  </a:moveTo>
                  <a:lnTo>
                    <a:pt x="1143000" y="285750"/>
                  </a:lnTo>
                  <a:lnTo>
                    <a:pt x="1143000" y="952500"/>
                  </a:lnTo>
                  <a:lnTo>
                    <a:pt x="571500" y="1238250"/>
                  </a:lnTo>
                  <a:lnTo>
                    <a:pt x="0" y="95250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2858">
              <a:solidFill>
                <a:srgbClr val="E0E0E0"/>
              </a:solidFill>
            </a:ln>
          </p:spPr>
        </p:sp>
        <p:sp>
          <p:nvSpPr>
            <p:cNvPr id="83" name="Polygon 8">
              <a:extLst>
                <a:ext uri="{FF2B5EF4-FFF2-40B4-BE49-F238E27FC236}">
                  <a16:creationId xmlns:a16="http://schemas.microsoft.com/office/drawing/2014/main" id="{E08310D0-8601-265E-67A6-1BC5AB8FB66F}"/>
                </a:ext>
              </a:extLst>
            </p:cNvPr>
            <p:cNvSpPr/>
            <p:nvPr/>
          </p:nvSpPr>
          <p:spPr>
            <a:xfrm>
              <a:off x="2000250" y="1809750"/>
              <a:ext cx="571500" cy="666750"/>
            </a:xfrm>
            <a:custGeom>
              <a:avLst/>
              <a:gdLst/>
              <a:ahLst/>
              <a:cxnLst/>
              <a:rect l="l" t="t" r="r" b="b"/>
              <a:pathLst>
                <a:path w="571500" h="666750">
                  <a:moveTo>
                    <a:pt x="285750" y="0"/>
                  </a:moveTo>
                  <a:lnTo>
                    <a:pt x="571500" y="142875"/>
                  </a:lnTo>
                  <a:lnTo>
                    <a:pt x="571500" y="523875"/>
                  </a:lnTo>
                  <a:lnTo>
                    <a:pt x="285750" y="666750"/>
                  </a:lnTo>
                  <a:lnTo>
                    <a:pt x="0" y="523875"/>
                  </a:lnTo>
                  <a:lnTo>
                    <a:pt x="0" y="142875"/>
                  </a:lnTo>
                  <a:close/>
                </a:path>
              </a:pathLst>
            </a:custGeom>
            <a:noFill/>
            <a:ln w="2858">
              <a:solidFill>
                <a:srgbClr val="E0E0E0"/>
              </a:solidFill>
            </a:ln>
          </p:spPr>
        </p:sp>
        <p:sp>
          <p:nvSpPr>
            <p:cNvPr id="84" name="Line 9">
              <a:extLst>
                <a:ext uri="{FF2B5EF4-FFF2-40B4-BE49-F238E27FC236}">
                  <a16:creationId xmlns:a16="http://schemas.microsoft.com/office/drawing/2014/main" id="{BB2F9601-2957-121F-8400-6155B2CF88A9}"/>
                </a:ext>
              </a:extLst>
            </p:cNvPr>
            <p:cNvSpPr/>
            <p:nvPr/>
          </p:nvSpPr>
          <p:spPr>
            <a:xfrm>
              <a:off x="2286000" y="123825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2858">
              <a:solidFill>
                <a:srgbClr val="E0E0E0"/>
              </a:solidFill>
            </a:ln>
          </p:spPr>
        </p:sp>
        <p:sp>
          <p:nvSpPr>
            <p:cNvPr id="85" name="Line 10">
              <a:extLst>
                <a:ext uri="{FF2B5EF4-FFF2-40B4-BE49-F238E27FC236}">
                  <a16:creationId xmlns:a16="http://schemas.microsoft.com/office/drawing/2014/main" id="{DEF9590E-3807-3014-8DAB-0D525FFBE2C0}"/>
                </a:ext>
              </a:extLst>
            </p:cNvPr>
            <p:cNvSpPr/>
            <p:nvPr/>
          </p:nvSpPr>
          <p:spPr>
            <a:xfrm>
              <a:off x="1428750" y="1714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0" y="0"/>
                  </a:moveTo>
                  <a:lnTo>
                    <a:pt x="1714500" y="952500"/>
                  </a:lnTo>
                </a:path>
              </a:pathLst>
            </a:custGeom>
            <a:noFill/>
            <a:ln w="2858">
              <a:solidFill>
                <a:srgbClr val="E0E0E0"/>
              </a:solidFill>
            </a:ln>
          </p:spPr>
        </p:sp>
        <p:sp>
          <p:nvSpPr>
            <p:cNvPr id="86" name="Line 11">
              <a:extLst>
                <a:ext uri="{FF2B5EF4-FFF2-40B4-BE49-F238E27FC236}">
                  <a16:creationId xmlns:a16="http://schemas.microsoft.com/office/drawing/2014/main" id="{C2393012-E012-794F-689C-4A761E70D700}"/>
                </a:ext>
              </a:extLst>
            </p:cNvPr>
            <p:cNvSpPr/>
            <p:nvPr/>
          </p:nvSpPr>
          <p:spPr>
            <a:xfrm>
              <a:off x="1428750" y="1714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0" y="952500"/>
                  </a:moveTo>
                  <a:lnTo>
                    <a:pt x="1714500" y="0"/>
                  </a:lnTo>
                </a:path>
              </a:pathLst>
            </a:custGeom>
            <a:noFill/>
            <a:ln w="2858">
              <a:solidFill>
                <a:srgbClr val="E0E0E0"/>
              </a:solidFill>
            </a:ln>
          </p:spPr>
        </p:sp>
        <p:sp>
          <p:nvSpPr>
            <p:cNvPr id="87" name="Polygon 12">
              <a:extLst>
                <a:ext uri="{FF2B5EF4-FFF2-40B4-BE49-F238E27FC236}">
                  <a16:creationId xmlns:a16="http://schemas.microsoft.com/office/drawing/2014/main" id="{C03484B7-6D10-6EBA-F6E3-89297A3D5DDE}"/>
                </a:ext>
              </a:extLst>
            </p:cNvPr>
            <p:cNvSpPr/>
            <p:nvPr/>
          </p:nvSpPr>
          <p:spPr>
            <a:xfrm>
              <a:off x="1571625" y="1381125"/>
              <a:ext cx="1428750" cy="1571625"/>
            </a:xfrm>
            <a:custGeom>
              <a:avLst/>
              <a:gdLst/>
              <a:ahLst/>
              <a:cxnLst/>
              <a:rect l="l" t="t" r="r" b="b"/>
              <a:pathLst>
                <a:path w="1428750" h="1571625">
                  <a:moveTo>
                    <a:pt x="714375" y="0"/>
                  </a:moveTo>
                  <a:lnTo>
                    <a:pt x="1428750" y="476250"/>
                  </a:lnTo>
                  <a:lnTo>
                    <a:pt x="1381125" y="1190625"/>
                  </a:lnTo>
                  <a:lnTo>
                    <a:pt x="714375" y="1571625"/>
                  </a:lnTo>
                  <a:lnTo>
                    <a:pt x="0" y="1047750"/>
                  </a:lnTo>
                  <a:lnTo>
                    <a:pt x="47625" y="381000"/>
                  </a:lnTo>
                  <a:close/>
                </a:path>
              </a:pathLst>
            </a:custGeom>
            <a:solidFill>
              <a:srgbClr val="FFD100">
                <a:alpha val="15000"/>
              </a:srgbClr>
            </a:solidFill>
            <a:ln w="14288">
              <a:solidFill>
                <a:srgbClr val="FFD100"/>
              </a:solidFill>
            </a:ln>
          </p:spPr>
        </p:sp>
        <p:sp>
          <p:nvSpPr>
            <p:cNvPr id="88" name="TextBox 13">
              <a:extLst>
                <a:ext uri="{FF2B5EF4-FFF2-40B4-BE49-F238E27FC236}">
                  <a16:creationId xmlns:a16="http://schemas.microsoft.com/office/drawing/2014/main" id="{F1BBE11B-4762-BA24-4C8F-3D1549FF68CC}"/>
                </a:ext>
              </a:extLst>
            </p:cNvPr>
            <p:cNvSpPr txBox="1"/>
            <p:nvPr/>
          </p:nvSpPr>
          <p:spPr>
            <a:xfrm>
              <a:off x="2080260" y="1089184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4A7FB5"/>
                  </a:solidFill>
                  <a:latin typeface="Arial"/>
                  <a:ea typeface="Microsoft YaHei"/>
                  <a:cs typeface="Arial"/>
                </a:rPr>
                <a:t>信息架构</a:t>
              </a:r>
            </a:p>
          </p:txBody>
        </p:sp>
        <p:sp>
          <p:nvSpPr>
            <p:cNvPr id="89" name="TextBox 14">
              <a:extLst>
                <a:ext uri="{FF2B5EF4-FFF2-40B4-BE49-F238E27FC236}">
                  <a16:creationId xmlns:a16="http://schemas.microsoft.com/office/drawing/2014/main" id="{FECF1D5F-C404-2C1B-3A05-DEED9615F4D9}"/>
                </a:ext>
              </a:extLst>
            </p:cNvPr>
            <p:cNvSpPr txBox="1"/>
            <p:nvPr/>
          </p:nvSpPr>
          <p:spPr>
            <a:xfrm>
              <a:off x="3248978" y="1670209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00BCD4"/>
                  </a:solidFill>
                  <a:latin typeface="Arial"/>
                  <a:ea typeface="Microsoft YaHei"/>
                  <a:cs typeface="Arial"/>
                </a:rPr>
                <a:t>动感诗学</a:t>
              </a:r>
            </a:p>
          </p:txBody>
        </p:sp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67BC2BEA-66F5-16A2-58F6-D9C66E9F6515}"/>
                </a:ext>
              </a:extLst>
            </p:cNvPr>
            <p:cNvSpPr txBox="1"/>
            <p:nvPr/>
          </p:nvSpPr>
          <p:spPr>
            <a:xfrm>
              <a:off x="3248978" y="2670334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极简主义</a:t>
              </a:r>
            </a:p>
          </p:txBody>
        </p:sp>
        <p:sp>
          <p:nvSpPr>
            <p:cNvPr id="91" name="TextBox 16">
              <a:extLst>
                <a:ext uri="{FF2B5EF4-FFF2-40B4-BE49-F238E27FC236}">
                  <a16:creationId xmlns:a16="http://schemas.microsoft.com/office/drawing/2014/main" id="{F18DCA54-00D1-93A7-F268-12F13C750A36}"/>
                </a:ext>
              </a:extLst>
            </p:cNvPr>
            <p:cNvSpPr txBox="1"/>
            <p:nvPr/>
          </p:nvSpPr>
          <p:spPr>
            <a:xfrm>
              <a:off x="2080260" y="3241834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7043"/>
                  </a:solidFill>
                  <a:latin typeface="Arial"/>
                  <a:ea typeface="Microsoft YaHei"/>
                  <a:cs typeface="Arial"/>
                </a:rPr>
                <a:t>实验先锋</a:t>
              </a:r>
            </a:p>
          </p:txBody>
        </p:sp>
        <p:sp>
          <p:nvSpPr>
            <p:cNvPr id="92" name="TextBox 17">
              <a:extLst>
                <a:ext uri="{FF2B5EF4-FFF2-40B4-BE49-F238E27FC236}">
                  <a16:creationId xmlns:a16="http://schemas.microsoft.com/office/drawing/2014/main" id="{7750F11E-DD72-5137-A64C-654E3CE152E3}"/>
                </a:ext>
              </a:extLst>
            </p:cNvPr>
            <p:cNvSpPr txBox="1"/>
            <p:nvPr/>
          </p:nvSpPr>
          <p:spPr>
            <a:xfrm>
              <a:off x="835342" y="2670334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C4785B"/>
                  </a:solidFill>
                  <a:latin typeface="Arial"/>
                  <a:ea typeface="Microsoft YaHei"/>
                  <a:cs typeface="Arial"/>
                </a:rPr>
                <a:t>东方哲学</a:t>
              </a:r>
            </a:p>
          </p:txBody>
        </p:sp>
        <p:sp>
          <p:nvSpPr>
            <p:cNvPr id="93" name="TextBox 18">
              <a:extLst>
                <a:ext uri="{FF2B5EF4-FFF2-40B4-BE49-F238E27FC236}">
                  <a16:creationId xmlns:a16="http://schemas.microsoft.com/office/drawing/2014/main" id="{07F9C0FA-303F-EE49-6D3D-C93C6FBDDF8D}"/>
                </a:ext>
              </a:extLst>
            </p:cNvPr>
            <p:cNvSpPr txBox="1"/>
            <p:nvPr/>
          </p:nvSpPr>
          <p:spPr>
            <a:xfrm>
              <a:off x="835342" y="1670209"/>
              <a:ext cx="41148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FFD100"/>
                  </a:solidFill>
                  <a:latin typeface="Arial"/>
                  <a:ea typeface="Microsoft YaHei"/>
                  <a:cs typeface="Arial"/>
                </a:rPr>
                <a:t>品牌原生</a:t>
              </a:r>
            </a:p>
          </p:txBody>
        </p:sp>
        <p:sp>
          <p:nvSpPr>
            <p:cNvPr id="94" name="Ellipse 19">
              <a:extLst>
                <a:ext uri="{FF2B5EF4-FFF2-40B4-BE49-F238E27FC236}">
                  <a16:creationId xmlns:a16="http://schemas.microsoft.com/office/drawing/2014/main" id="{8A9BBA57-8903-2D0A-7BE5-2E5597B6DA09}"/>
                </a:ext>
              </a:extLst>
            </p:cNvPr>
            <p:cNvSpPr/>
            <p:nvPr/>
          </p:nvSpPr>
          <p:spPr>
            <a:xfrm>
              <a:off x="2257425" y="1352550"/>
              <a:ext cx="57150" cy="57150"/>
            </a:xfrm>
            <a:prstGeom prst="ellipse">
              <a:avLst/>
            </a:prstGeom>
            <a:solidFill>
              <a:srgbClr val="4A7FB5"/>
            </a:solidFill>
            <a:ln>
              <a:noFill/>
            </a:ln>
          </p:spPr>
        </p:sp>
        <p:sp>
          <p:nvSpPr>
            <p:cNvPr id="95" name="Ellipse 20">
              <a:extLst>
                <a:ext uri="{FF2B5EF4-FFF2-40B4-BE49-F238E27FC236}">
                  <a16:creationId xmlns:a16="http://schemas.microsoft.com/office/drawing/2014/main" id="{70C7E77E-59F8-3283-A8B3-BA227CDAD3C4}"/>
                </a:ext>
              </a:extLst>
            </p:cNvPr>
            <p:cNvSpPr/>
            <p:nvPr/>
          </p:nvSpPr>
          <p:spPr>
            <a:xfrm>
              <a:off x="2971800" y="1828800"/>
              <a:ext cx="57150" cy="57150"/>
            </a:xfrm>
            <a:prstGeom prst="ellipse">
              <a:avLst/>
            </a:prstGeom>
            <a:solidFill>
              <a:srgbClr val="00BCD4"/>
            </a:solidFill>
            <a:ln>
              <a:noFill/>
            </a:ln>
          </p:spPr>
        </p:sp>
        <p:sp>
          <p:nvSpPr>
            <p:cNvPr id="96" name="Ellipse 21">
              <a:extLst>
                <a:ext uri="{FF2B5EF4-FFF2-40B4-BE49-F238E27FC236}">
                  <a16:creationId xmlns:a16="http://schemas.microsoft.com/office/drawing/2014/main" id="{8BE767D5-2A28-19C3-8D17-2AE140EAD443}"/>
                </a:ext>
              </a:extLst>
            </p:cNvPr>
            <p:cNvSpPr/>
            <p:nvPr/>
          </p:nvSpPr>
          <p:spPr>
            <a:xfrm>
              <a:off x="2924175" y="2543175"/>
              <a:ext cx="57150" cy="5715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97" name="Ellipse 22">
              <a:extLst>
                <a:ext uri="{FF2B5EF4-FFF2-40B4-BE49-F238E27FC236}">
                  <a16:creationId xmlns:a16="http://schemas.microsoft.com/office/drawing/2014/main" id="{7935F7EB-03D5-B693-8C76-CD2DEF3B64DB}"/>
                </a:ext>
              </a:extLst>
            </p:cNvPr>
            <p:cNvSpPr/>
            <p:nvPr/>
          </p:nvSpPr>
          <p:spPr>
            <a:xfrm>
              <a:off x="2257425" y="2924175"/>
              <a:ext cx="57150" cy="57150"/>
            </a:xfrm>
            <a:prstGeom prst="ellipse">
              <a:avLst/>
            </a:prstGeom>
            <a:solidFill>
              <a:srgbClr val="FF7043"/>
            </a:solidFill>
            <a:ln>
              <a:noFill/>
            </a:ln>
          </p:spPr>
        </p:sp>
        <p:sp>
          <p:nvSpPr>
            <p:cNvPr id="98" name="Ellipse 23">
              <a:extLst>
                <a:ext uri="{FF2B5EF4-FFF2-40B4-BE49-F238E27FC236}">
                  <a16:creationId xmlns:a16="http://schemas.microsoft.com/office/drawing/2014/main" id="{A3E0F0E5-B127-28B1-6650-82CC961DF485}"/>
                </a:ext>
              </a:extLst>
            </p:cNvPr>
            <p:cNvSpPr/>
            <p:nvPr/>
          </p:nvSpPr>
          <p:spPr>
            <a:xfrm>
              <a:off x="1543050" y="2400300"/>
              <a:ext cx="57150" cy="57150"/>
            </a:xfrm>
            <a:prstGeom prst="ellipse">
              <a:avLst/>
            </a:prstGeom>
            <a:solidFill>
              <a:srgbClr val="C4785B"/>
            </a:solidFill>
            <a:ln>
              <a:noFill/>
            </a:ln>
          </p:spPr>
        </p:sp>
        <p:sp>
          <p:nvSpPr>
            <p:cNvPr id="99" name="Ellipse 24">
              <a:extLst>
                <a:ext uri="{FF2B5EF4-FFF2-40B4-BE49-F238E27FC236}">
                  <a16:creationId xmlns:a16="http://schemas.microsoft.com/office/drawing/2014/main" id="{16EDEB6F-A27F-6E69-CF9B-A8E2804495DF}"/>
                </a:ext>
              </a:extLst>
            </p:cNvPr>
            <p:cNvSpPr/>
            <p:nvPr/>
          </p:nvSpPr>
          <p:spPr>
            <a:xfrm>
              <a:off x="1590675" y="1733550"/>
              <a:ext cx="57150" cy="57150"/>
            </a:xfrm>
            <a:prstGeom prst="ellipse">
              <a:avLst/>
            </a:prstGeom>
            <a:solidFill>
              <a:srgbClr val="FFD100"/>
            </a:solidFill>
            <a:ln>
              <a:noFill/>
            </a:ln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2325</Words>
  <Application>Microsoft Macintosh PowerPoint</Application>
  <PresentationFormat>宽屏</PresentationFormat>
  <Paragraphs>569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木先生iPPT</cp:lastModifiedBy>
  <cp:revision>2</cp:revision>
  <dcterms:created xsi:type="dcterms:W3CDTF">2013-01-27T09:14:16Z</dcterms:created>
  <dcterms:modified xsi:type="dcterms:W3CDTF">2026-04-23T06:11:17Z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ppt-design-philosophies_20260423_134732.pptx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12d8b461b3227e17a4a943ab2b63e7d209718d20</vt:lpwstr>
  </property>
</Properties>
</file>